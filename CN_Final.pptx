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001" r:id="rId2"/>
    <p:sldId id="2002" r:id="rId3"/>
    <p:sldId id="2003" r:id="rId4"/>
    <p:sldId id="2004" r:id="rId5"/>
    <p:sldId id="2005" r:id="rId6"/>
    <p:sldId id="2006" r:id="rId7"/>
    <p:sldId id="2007" r:id="rId8"/>
    <p:sldId id="2008" r:id="rId9"/>
    <p:sldId id="2009" r:id="rId10"/>
    <p:sldId id="2010" r:id="rId11"/>
    <p:sldId id="2011" r:id="rId12"/>
    <p:sldId id="2012" r:id="rId13"/>
    <p:sldId id="2013" r:id="rId14"/>
    <p:sldId id="2014" r:id="rId15"/>
    <p:sldId id="2015" r:id="rId16"/>
    <p:sldId id="201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05EE95-9D8D-4199-A917-001618D11065}" v="4" dt="2026-03-20T09:42:49.8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7" autoAdjust="0"/>
    <p:restoredTop sz="94668"/>
  </p:normalViewPr>
  <p:slideViewPr>
    <p:cSldViewPr snapToGrid="0">
      <p:cViewPr varScale="1">
        <p:scale>
          <a:sx n="117" d="100"/>
          <a:sy n="117" d="100"/>
        </p:scale>
        <p:origin x="1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184E5-C504-4781-B7BF-07AEDC9C9377}" type="datetimeFigureOut">
              <a:rPr lang="en-IN" smtClean="0"/>
              <a:t>24/03/26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F92F3D-3EB8-4668-B099-180C588624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722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6AD42-EE75-1CC8-FBA6-56098F6FD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29EA4-BEA3-E2EC-AA97-A232D6E12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2D440-0955-1967-C82E-473D510B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F5EF-A3A4-4C4E-8EF0-CF9886975D8D}" type="datetimeFigureOut">
              <a:rPr lang="en-IN" smtClean="0"/>
              <a:t>24/03/26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BCD9C-ABED-8721-0D2A-190460EAA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E1600-7A12-4F25-BEBE-6B99A4FF4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79753-9E38-4896-83B6-E5A833E4E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606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91698-A3CC-2F24-342E-88A77AFE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38F3B-2CC2-5DC3-DFB7-D78F97033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96F1B-7C9D-75E4-BE1A-333605389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F5EF-A3A4-4C4E-8EF0-CF9886975D8D}" type="datetimeFigureOut">
              <a:rPr lang="en-IN" smtClean="0"/>
              <a:t>24/03/26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33AA6-8AC7-FB6A-E6C5-52E8F58EF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6527C-AB9C-66F4-FD48-23B427D72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79753-9E38-4896-83B6-E5A833E4E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273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AC08E-A9A7-560D-FAF7-26C99FB97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45DB1-44F0-D023-E8A2-E20F6282D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223CC-4472-5046-31CC-487DDD9F4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F5EF-A3A4-4C4E-8EF0-CF9886975D8D}" type="datetimeFigureOut">
              <a:rPr lang="en-IN" smtClean="0"/>
              <a:t>24/03/26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B2E00-7ED0-297D-8CCB-AF2A24BF4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DD7D9-965D-AE9B-571C-AC79A15DB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79753-9E38-4896-83B6-E5A833E4E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837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A9FE5-E5DA-3ED7-B71D-1D7700E6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57353-06ED-B800-D35B-80DD0D0CD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6F0EB7-B11C-6892-4A65-9E26EBD09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70B59-532E-7AEC-8C19-92B1EAE9C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F5EF-A3A4-4C4E-8EF0-CF9886975D8D}" type="datetimeFigureOut">
              <a:rPr lang="en-IN" smtClean="0"/>
              <a:t>24/03/26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6A09A-828E-1E5C-D117-0DD8ED288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694B7-909D-8525-E7CB-F1726E729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79753-9E38-4896-83B6-E5A833E4E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044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81CCD-E9EA-F336-0ABD-4587C63EA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C2F59-181A-8793-FD03-7A966614A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4D8F7-90D0-CEE5-58B9-B70D5FF28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80DE5C-E04D-C3B5-F62C-5CB1623B9D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E096A3-A66D-3790-ABC4-725DC1F11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93E458-B03F-BE12-D17E-E76D8F717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F5EF-A3A4-4C4E-8EF0-CF9886975D8D}" type="datetimeFigureOut">
              <a:rPr lang="en-IN" smtClean="0"/>
              <a:t>24/03/26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DFB4CD-FBB8-FA2B-E235-1AB7251E7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408EDE-26C8-9417-F038-017CB1BC9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79753-9E38-4896-83B6-E5A833E4E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00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6216E-90B1-49BE-6EFA-4E053080C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6B11EC-685E-77E5-3EF4-19870C5D4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F5EF-A3A4-4C4E-8EF0-CF9886975D8D}" type="datetimeFigureOut">
              <a:rPr lang="en-IN" smtClean="0"/>
              <a:t>24/03/26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930666-FF4C-77DB-13CF-7AB6A3B69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83BAA7-C283-2EE7-EDB0-EF24A7BA8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79753-9E38-4896-83B6-E5A833E4E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28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ADA04-90D2-772C-540D-D67A79F77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F5EF-A3A4-4C4E-8EF0-CF9886975D8D}" type="datetimeFigureOut">
              <a:rPr lang="en-IN" smtClean="0"/>
              <a:t>24/03/26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9CCC0F-FB0D-B776-538E-6E4ADFF36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2DE31-0C41-15AC-7C3B-B627FB324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79753-9E38-4896-83B6-E5A833E4E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390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05C9E-3591-96BB-AEAC-0AA94894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3E2F7-4211-C862-C3F8-8BC59CA0E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7C8A33-0B88-E945-B7A6-24664E458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380EF-4ED5-C1EC-3CF8-E85FA507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F5EF-A3A4-4C4E-8EF0-CF9886975D8D}" type="datetimeFigureOut">
              <a:rPr lang="en-IN" smtClean="0"/>
              <a:t>24/03/26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E000B-F27B-B1EC-B92A-45EC0E1A6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69010-144D-80FA-91D2-342B96322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79753-9E38-4896-83B6-E5A833E4E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180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659A7-4E3D-4B6B-5FEC-ED86FF6D3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CE4E54-28A5-B42A-2D8D-B59553DDB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4C3CE9-EE36-A194-837E-9C963A305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90567-B450-B45E-9E60-50B3FAFF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F5EF-A3A4-4C4E-8EF0-CF9886975D8D}" type="datetimeFigureOut">
              <a:rPr lang="en-IN" smtClean="0"/>
              <a:t>24/03/26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A8938-C0D9-814D-B869-7D7CD9EA2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27F98-9A06-EF04-5043-7E1FEC16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79753-9E38-4896-83B6-E5A833E4E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768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91FB-94E7-981D-93EF-1E1A5E496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6611FA-E9B1-DBE8-6690-46851F89E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F1CC2-C57B-89F2-FBD8-D66B5803F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F5EF-A3A4-4C4E-8EF0-CF9886975D8D}" type="datetimeFigureOut">
              <a:rPr lang="en-IN" smtClean="0"/>
              <a:t>24/03/26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588B1-6A86-1BDF-C55E-864224885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E520F-FEC6-FE6C-2AD1-C9BDCDDCD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79753-9E38-4896-83B6-E5A833E4E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30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E82C98-A7C9-8BED-7BE2-83BF7E09AE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A847B7-2AAD-0C61-0AEC-A3ADB336A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057A9-5701-AA1C-2D56-6FACAB536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5F5EF-A3A4-4C4E-8EF0-CF9886975D8D}" type="datetimeFigureOut">
              <a:rPr lang="en-IN" smtClean="0"/>
              <a:t>24/03/26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F5740-112B-F682-989B-295F039FF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BC311-CAFC-1916-D7CF-507C0164E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079753-9E38-4896-83B6-E5A833E4E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586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ABC22A-C7E6-1B4C-CF67-DF8963AF7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8BF80-1411-2484-CF36-DA7EF80D8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9981C-F1EC-6945-0A3C-771234E994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E5F5EF-A3A4-4C4E-8EF0-CF9886975D8D}" type="datetimeFigureOut">
              <a:rPr lang="en-IN" smtClean="0"/>
              <a:t>24/03/26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0CCC4-6D1E-C555-4803-6F7615F118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59018-7967-81C8-024B-838DF5543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079753-9E38-4896-83B6-E5A833E4E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935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Bar"/>
          <p:cNvSpPr txBox="1">
            <a:spLocks noChangeArrowheads="1"/>
          </p:cNvSpPr>
          <p:nvPr/>
        </p:nvSpPr>
        <p:spPr bwMode="auto">
          <a:xfrm>
            <a:off x="0" y="6486754"/>
            <a:ext cx="12192000" cy="371513"/>
          </a:xfrm>
          <a:prstGeom prst="rect">
            <a:avLst/>
          </a:prstGeom>
          <a:solidFill>
            <a:srgbClr val="E46C0A"/>
          </a:solidFill>
        </p:spPr>
        <p:txBody>
          <a:bodyPr wrap="square" lIns="90000" tIns="46800" rIns="90000" bIns="46800">
            <a:spAutoFit/>
          </a:bodyPr>
          <a:lstStyle/>
          <a:p>
            <a:pPr algn="ctr">
              <a:spcBef>
                <a:spcPts val="1125"/>
              </a:spcBef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Sudeep Sharma, Prakhar Singh 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 No. 230907340 &amp; 230907450, ECE, MIT.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16832" y="6570513"/>
            <a:ext cx="914400" cy="203994"/>
          </a:xfrm>
        </p:spPr>
        <p:txBody>
          <a:bodyPr/>
          <a:lstStyle/>
          <a:p>
            <a:fld id="{D1D7ACCA-8485-4958-B811-C4240EBF000A}" type="datetime5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24-Mar-26</a:t>
            </a:fld>
            <a:endParaRPr lang="en-US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131968" y="6434716"/>
            <a:ext cx="2743200" cy="365125"/>
          </a:xfrm>
        </p:spPr>
        <p:txBody>
          <a:bodyPr/>
          <a:lstStyle/>
          <a:p>
            <a:fld id="{49C05B83-7B02-450B-B7D4-1E54CDF37B95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1" y="791817"/>
            <a:ext cx="12191999" cy="11668"/>
          </a:xfrm>
          <a:prstGeom prst="line">
            <a:avLst/>
          </a:prstGeom>
          <a:noFill/>
          <a:ln w="31680">
            <a:solidFill>
              <a:srgbClr val="E46C0A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201" y="126629"/>
            <a:ext cx="584799" cy="608191"/>
          </a:xfrm>
          <a:prstGeom prst="rect">
            <a:avLst/>
          </a:prstGeom>
        </p:spPr>
      </p:pic>
      <p:sp>
        <p:nvSpPr>
          <p:cNvPr id="22" name="HdrTitle"/>
          <p:cNvSpPr txBox="1"/>
          <p:nvPr/>
        </p:nvSpPr>
        <p:spPr>
          <a:xfrm>
            <a:off x="4178507" y="249488"/>
            <a:ext cx="403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COMMUNICATION NETWORKS LAB</a:t>
            </a:r>
          </a:p>
        </p:txBody>
      </p:sp>
      <p:sp>
        <p:nvSpPr>
          <p:cNvPr id="99" name="tb"/>
          <p:cNvSpPr txBox="1">
            <a:spLocks noChangeArrowheads="1"/>
          </p:cNvSpPr>
          <p:nvPr/>
        </p:nvSpPr>
        <p:spPr bwMode="auto">
          <a:xfrm>
            <a:off x="1487474" y="1070330"/>
            <a:ext cx="9420286" cy="15265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ctr">
              <a:spcBef>
                <a:spcPts val="200"/>
              </a:spcBef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Traffic-Aware Network</a:t>
            </a:r>
          </a:p>
          <a:p>
            <a:pPr algn="ctr">
              <a:spcBef>
                <a:spcPts val="200"/>
              </a:spcBef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 and Self-Healing System</a:t>
            </a:r>
          </a:p>
          <a:p>
            <a:pPr algn="ctr">
              <a:spcBef>
                <a:spcPts val="200"/>
              </a:spcBef>
            </a:pPr>
            <a:r>
              <a:rPr lang="en-US" sz="2400" i="1" dirty="0">
                <a:solidFill>
                  <a:srgbClr val="E46C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Dijkstra's Algorithm</a:t>
            </a:r>
          </a:p>
        </p:txBody>
      </p:sp>
      <p:sp>
        <p:nvSpPr>
          <p:cNvPr id="7" name="tb"/>
          <p:cNvSpPr txBox="1">
            <a:spLocks noChangeArrowheads="1"/>
          </p:cNvSpPr>
          <p:nvPr/>
        </p:nvSpPr>
        <p:spPr bwMode="auto">
          <a:xfrm>
            <a:off x="1487474" y="2591232"/>
            <a:ext cx="9000000" cy="6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ctr">
              <a:spcBef>
                <a:spcPts val="200"/>
              </a:spcBef>
            </a:pPr>
            <a:r>
              <a:rPr lang="en-US" sz="1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Electronics and Communication  |  Manipal Institute of Technology, Manipal</a:t>
            </a:r>
          </a:p>
        </p:txBody>
      </p:sp>
      <p:sp>
        <p:nvSpPr>
          <p:cNvPr id="8" name="tb"/>
          <p:cNvSpPr txBox="1">
            <a:spLocks noChangeArrowheads="1"/>
          </p:cNvSpPr>
          <p:nvPr/>
        </p:nvSpPr>
        <p:spPr bwMode="auto">
          <a:xfrm>
            <a:off x="2487474" y="3979495"/>
            <a:ext cx="7000000" cy="1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ctr">
              <a:spcBef>
                <a:spcPts val="200"/>
              </a:spcBef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Sudeep Sharma</a:t>
            </a:r>
          </a:p>
          <a:p>
            <a:pPr algn="ctr">
              <a:spcBef>
                <a:spcPts val="200"/>
              </a:spcBef>
            </a:pPr>
            <a:r>
              <a:rPr lang="en-US" sz="13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 No. 230907340  |  sudeep.mitmpl2023@learner.manipal.edu</a:t>
            </a:r>
          </a:p>
          <a:p>
            <a:pPr algn="ctr">
              <a:spcBef>
                <a:spcPts val="200"/>
              </a:spcBef>
            </a:pPr>
            <a:endParaRPr lang="en-US" sz="1300" dirty="0">
              <a:solidFill>
                <a:srgbClr val="5555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200"/>
              </a:spcBef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Prakhar Singh</a:t>
            </a:r>
          </a:p>
          <a:p>
            <a:pPr algn="ctr">
              <a:spcBef>
                <a:spcPts val="200"/>
              </a:spcBef>
            </a:pPr>
            <a:r>
              <a:rPr lang="en-US" sz="13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 No. 230907450  |  prakhar5.mitmpl2023@learner.manipal.edu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Bar"/>
          <p:cNvSpPr txBox="1">
            <a:spLocks noChangeArrowheads="1"/>
          </p:cNvSpPr>
          <p:nvPr/>
        </p:nvSpPr>
        <p:spPr bwMode="auto">
          <a:xfrm>
            <a:off x="0" y="6486754"/>
            <a:ext cx="12192000" cy="371513"/>
          </a:xfrm>
          <a:prstGeom prst="rect">
            <a:avLst/>
          </a:prstGeom>
          <a:solidFill>
            <a:srgbClr val="E46C0A"/>
          </a:solidFill>
        </p:spPr>
        <p:txBody>
          <a:bodyPr wrap="square" lIns="90000" tIns="46800" rIns="90000" bIns="46800">
            <a:spAutoFit/>
          </a:bodyPr>
          <a:lstStyle/>
          <a:p>
            <a:pPr algn="ctr">
              <a:spcBef>
                <a:spcPts val="1125"/>
              </a:spcBef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Sudeep Sharma, Prakhar Singh 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 No. 230907340 &amp; 230907450, ECE, MIT.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16832" y="6570513"/>
            <a:ext cx="914400" cy="203994"/>
          </a:xfrm>
        </p:spPr>
        <p:txBody>
          <a:bodyPr/>
          <a:lstStyle/>
          <a:p>
            <a:fld id="{D1D7ACCA-8485-4958-B811-C4240EBF000A}" type="datetime5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24-Mar-26</a:t>
            </a:fld>
            <a:endParaRPr lang="en-US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131968" y="6434716"/>
            <a:ext cx="2743200" cy="365125"/>
          </a:xfrm>
        </p:spPr>
        <p:txBody>
          <a:bodyPr/>
          <a:lstStyle/>
          <a:p>
            <a:fld id="{49C05B83-7B02-450B-B7D4-1E54CDF37B95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IN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1" y="791817"/>
            <a:ext cx="12191999" cy="11668"/>
          </a:xfrm>
          <a:prstGeom prst="line">
            <a:avLst/>
          </a:prstGeom>
          <a:noFill/>
          <a:ln w="31680">
            <a:solidFill>
              <a:srgbClr val="E46C0A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201" y="126629"/>
            <a:ext cx="584799" cy="608191"/>
          </a:xfrm>
          <a:prstGeom prst="rect">
            <a:avLst/>
          </a:prstGeom>
        </p:spPr>
      </p:pic>
      <p:sp>
        <p:nvSpPr>
          <p:cNvPr id="22" name="HdrTitle"/>
          <p:cNvSpPr txBox="1"/>
          <p:nvPr/>
        </p:nvSpPr>
        <p:spPr>
          <a:xfrm>
            <a:off x="4178507" y="249488"/>
            <a:ext cx="403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COMMUNICATION NETWORKS LAB</a:t>
            </a:r>
          </a:p>
        </p:txBody>
      </p:sp>
      <p:sp>
        <p:nvSpPr>
          <p:cNvPr id="99" name="tb"/>
          <p:cNvSpPr txBox="1">
            <a:spLocks noChangeArrowheads="1"/>
          </p:cNvSpPr>
          <p:nvPr/>
        </p:nvSpPr>
        <p:spPr bwMode="auto">
          <a:xfrm>
            <a:off x="400000" y="900000"/>
            <a:ext cx="1200000" cy="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70000" lnSpcReduction="20000"/>
          </a:bodyPr>
          <a:lstStyle/>
          <a:p>
            <a:pPr algn="l">
              <a:spcBef>
                <a:spcPts val="200"/>
              </a:spcBef>
            </a:pPr>
            <a:r>
              <a:rPr lang="en-US" sz="2400" b="1" dirty="0">
                <a:solidFill>
                  <a:srgbClr val="E46C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98" name="fbox"/>
          <p:cNvSpPr txBox="1"/>
          <p:nvPr/>
        </p:nvSpPr>
        <p:spPr>
          <a:xfrm>
            <a:off x="400000" y="1218089"/>
            <a:ext cx="11392000" cy="5200000"/>
          </a:xfrm>
          <a:prstGeom prst="rect">
            <a:avLst/>
          </a:prstGeom>
          <a:solidFill>
            <a:srgbClr val="F7F7F7"/>
          </a:solidFill>
        </p:spPr>
        <p:txBody>
          <a:bodyPr wrap="square" lIns="91440" tIns="45720" rIns="91440" bIns="45720" anchor="ctr">
            <a:normAutofit/>
          </a:bodyPr>
          <a:lstStyle/>
          <a:p>
            <a:pPr marL="285750" indent="-285750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285750" indent="-285750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Contributions &amp; Novelty</a:t>
            </a:r>
          </a:p>
          <a:p>
            <a:pPr marL="285750" indent="-285750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Model</a:t>
            </a:r>
          </a:p>
          <a:p>
            <a:pPr marL="285750" indent="-285750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— Five-Phase Architecture</a:t>
            </a:r>
          </a:p>
          <a:p>
            <a:pPr marL="285750" indent="-285750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Phase-wise Breakdown</a:t>
            </a:r>
          </a:p>
          <a:p>
            <a:pPr marL="342900" indent="-342900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 Engine — Dijkstra Algorithm  </a:t>
            </a:r>
          </a:p>
          <a:p>
            <a:pPr marL="285750" indent="-285750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Network Behavior</a:t>
            </a:r>
          </a:p>
          <a:p>
            <a:pPr marL="285750" indent="-285750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MATLAB Implementation</a:t>
            </a:r>
          </a:p>
          <a:p>
            <a:pPr marL="285750" indent="-285750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Scenario Analysis</a:t>
            </a:r>
          </a:p>
          <a:p>
            <a:pPr marL="285750" indent="-285750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</a:p>
          <a:p>
            <a:pPr marL="285750" indent="-285750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vs. Dynamic Comparison</a:t>
            </a:r>
          </a:p>
          <a:p>
            <a:pPr marL="285750" indent="-285750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Practical Implications</a:t>
            </a:r>
          </a:p>
          <a:p>
            <a:pPr marL="285750" indent="-285750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285750" indent="-285750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285750" indent="-285750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spcBef>
                <a:spcPts val="180"/>
              </a:spcBef>
              <a:buFont typeface="Arial" panose="020B0604020202020204" pitchFamily="34" charset="0"/>
              <a:buChar char="•"/>
            </a:pPr>
            <a:endParaRPr lang="en-US" dirty="0">
              <a:solidFill>
                <a:srgbClr val="1F2D3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Bar"/>
          <p:cNvSpPr txBox="1">
            <a:spLocks noChangeArrowheads="1"/>
          </p:cNvSpPr>
          <p:nvPr/>
        </p:nvSpPr>
        <p:spPr bwMode="auto">
          <a:xfrm>
            <a:off x="0" y="6486754"/>
            <a:ext cx="12192000" cy="371513"/>
          </a:xfrm>
          <a:prstGeom prst="rect">
            <a:avLst/>
          </a:prstGeom>
          <a:solidFill>
            <a:srgbClr val="E46C0A"/>
          </a:solidFill>
        </p:spPr>
        <p:txBody>
          <a:bodyPr wrap="square" lIns="90000" tIns="46800" rIns="90000" bIns="46800">
            <a:spAutoFit/>
          </a:bodyPr>
          <a:lstStyle/>
          <a:p>
            <a:pPr algn="ctr">
              <a:spcBef>
                <a:spcPts val="1125"/>
              </a:spcBef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Sudeep Sharma, Prakhar Singh 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 No. 230907340 &amp; 230907450, ECE, MIT.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16832" y="6570513"/>
            <a:ext cx="914400" cy="203994"/>
          </a:xfrm>
        </p:spPr>
        <p:txBody>
          <a:bodyPr/>
          <a:lstStyle/>
          <a:p>
            <a:fld id="{D1D7ACCA-8485-4958-B811-C4240EBF000A}" type="datetime5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24-Mar-26</a:t>
            </a:fld>
            <a:endParaRPr lang="en-US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131968" y="6434716"/>
            <a:ext cx="2743200" cy="365125"/>
          </a:xfrm>
        </p:spPr>
        <p:txBody>
          <a:bodyPr/>
          <a:lstStyle/>
          <a:p>
            <a:fld id="{49C05B83-7B02-450B-B7D4-1E54CDF37B95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IN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1" y="791817"/>
            <a:ext cx="12191999" cy="11668"/>
          </a:xfrm>
          <a:prstGeom prst="line">
            <a:avLst/>
          </a:prstGeom>
          <a:noFill/>
          <a:ln w="31680">
            <a:solidFill>
              <a:srgbClr val="E46C0A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201" y="126629"/>
            <a:ext cx="584799" cy="608191"/>
          </a:xfrm>
          <a:prstGeom prst="rect">
            <a:avLst/>
          </a:prstGeom>
        </p:spPr>
      </p:pic>
      <p:sp>
        <p:nvSpPr>
          <p:cNvPr id="22" name="HdrTitle"/>
          <p:cNvSpPr txBox="1"/>
          <p:nvPr/>
        </p:nvSpPr>
        <p:spPr>
          <a:xfrm>
            <a:off x="4178507" y="249488"/>
            <a:ext cx="403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COMMUNICATION NETWORKS LAB</a:t>
            </a:r>
          </a:p>
        </p:txBody>
      </p:sp>
      <p:sp>
        <p:nvSpPr>
          <p:cNvPr id="99" name="tb"/>
          <p:cNvSpPr txBox="1">
            <a:spLocks noChangeArrowheads="1"/>
          </p:cNvSpPr>
          <p:nvPr/>
        </p:nvSpPr>
        <p:spPr bwMode="auto">
          <a:xfrm>
            <a:off x="400000" y="900000"/>
            <a:ext cx="11000000" cy="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lnSpcReduction="10000"/>
          </a:bodyPr>
          <a:lstStyle/>
          <a:p>
            <a:pPr algn="l">
              <a:spcBef>
                <a:spcPts val="200"/>
              </a:spcBef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98" name="fbox"/>
          <p:cNvSpPr txBox="1"/>
          <p:nvPr/>
        </p:nvSpPr>
        <p:spPr>
          <a:xfrm>
            <a:off x="400000" y="1500000"/>
            <a:ext cx="5500000" cy="4700000"/>
          </a:xfrm>
          <a:prstGeom prst="rect">
            <a:avLst/>
          </a:prstGeom>
          <a:solidFill>
            <a:srgbClr val="FFF3E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200"/>
              </a:spcBef>
            </a:pPr>
            <a:r>
              <a:rPr lang="en-US" sz="2400" b="1" dirty="0">
                <a:solidFill>
                  <a:srgbClr val="E46C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Static Routing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6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routes defined at configuration time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6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runtime awareness of congestion or failures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6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Inefficient bandwidth utilization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6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Single-point failure risk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6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Recovery requires manual administrator intervention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6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time: minutes to hours — not milliseconds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6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OSPF dead-interval: 40 seconds before re-convergence</a:t>
            </a:r>
          </a:p>
        </p:txBody>
      </p:sp>
      <p:sp>
        <p:nvSpPr>
          <p:cNvPr id="7" name="fbox"/>
          <p:cNvSpPr txBox="1"/>
          <p:nvPr/>
        </p:nvSpPr>
        <p:spPr>
          <a:xfrm>
            <a:off x="6100000" y="1500000"/>
            <a:ext cx="5700000" cy="4700000"/>
          </a:xfrm>
          <a:prstGeom prst="rect">
            <a:avLst/>
          </a:prstGeom>
          <a:solidFill>
            <a:srgbClr val="E8F5E9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200"/>
              </a:spcBef>
            </a:pPr>
            <a:r>
              <a:rPr lang="en-US" sz="2400" b="1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Demand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6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devices projected to exceed 29 billion by 2030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6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computing: unpredictable traffic surges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6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High-availability apps need millisecond-scale recovery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6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networks: heterogeneous, distributed, dynamic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6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protocols cannot respond to traffic volatility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6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gap: autonomous, real-time adaptive routing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Bar"/>
          <p:cNvSpPr txBox="1">
            <a:spLocks noChangeArrowheads="1"/>
          </p:cNvSpPr>
          <p:nvPr/>
        </p:nvSpPr>
        <p:spPr bwMode="auto">
          <a:xfrm>
            <a:off x="0" y="6486754"/>
            <a:ext cx="12192000" cy="371513"/>
          </a:xfrm>
          <a:prstGeom prst="rect">
            <a:avLst/>
          </a:prstGeom>
          <a:solidFill>
            <a:srgbClr val="E46C0A"/>
          </a:solidFill>
        </p:spPr>
        <p:txBody>
          <a:bodyPr wrap="square" lIns="90000" tIns="46800" rIns="90000" bIns="46800">
            <a:spAutoFit/>
          </a:bodyPr>
          <a:lstStyle/>
          <a:p>
            <a:pPr algn="ctr">
              <a:spcBef>
                <a:spcPts val="1125"/>
              </a:spcBef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Sudeep Sharma, Prakhar Singh 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 No. 230907340 &amp; 230907450, ECE, MIT.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16832" y="6570513"/>
            <a:ext cx="914400" cy="203994"/>
          </a:xfrm>
        </p:spPr>
        <p:txBody>
          <a:bodyPr/>
          <a:lstStyle/>
          <a:p>
            <a:fld id="{D1D7ACCA-8485-4958-B811-C4240EBF000A}" type="datetime5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24-Mar-26</a:t>
            </a:fld>
            <a:endParaRPr lang="en-US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131968" y="6434716"/>
            <a:ext cx="2743200" cy="365125"/>
          </a:xfrm>
        </p:spPr>
        <p:txBody>
          <a:bodyPr/>
          <a:lstStyle/>
          <a:p>
            <a:fld id="{49C05B83-7B02-450B-B7D4-1E54CDF37B95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IN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1" y="791817"/>
            <a:ext cx="12191999" cy="11668"/>
          </a:xfrm>
          <a:prstGeom prst="line">
            <a:avLst/>
          </a:prstGeom>
          <a:noFill/>
          <a:ln w="31680">
            <a:solidFill>
              <a:srgbClr val="E46C0A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201" y="126629"/>
            <a:ext cx="584799" cy="608191"/>
          </a:xfrm>
          <a:prstGeom prst="rect">
            <a:avLst/>
          </a:prstGeom>
        </p:spPr>
      </p:pic>
      <p:sp>
        <p:nvSpPr>
          <p:cNvPr id="22" name="HdrTitle"/>
          <p:cNvSpPr txBox="1"/>
          <p:nvPr/>
        </p:nvSpPr>
        <p:spPr>
          <a:xfrm>
            <a:off x="4178507" y="249488"/>
            <a:ext cx="403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COMMUNICATION NETWORKS LAB</a:t>
            </a:r>
          </a:p>
        </p:txBody>
      </p:sp>
      <p:sp>
        <p:nvSpPr>
          <p:cNvPr id="99" name="tb"/>
          <p:cNvSpPr txBox="1">
            <a:spLocks noChangeArrowheads="1"/>
          </p:cNvSpPr>
          <p:nvPr/>
        </p:nvSpPr>
        <p:spPr bwMode="auto">
          <a:xfrm>
            <a:off x="400000" y="900000"/>
            <a:ext cx="11000000" cy="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lnSpcReduction="10000"/>
          </a:bodyPr>
          <a:lstStyle/>
          <a:p>
            <a:pPr algn="l">
              <a:spcBef>
                <a:spcPts val="200"/>
              </a:spcBef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98" name="fbox"/>
          <p:cNvSpPr txBox="1"/>
          <p:nvPr/>
        </p:nvSpPr>
        <p:spPr>
          <a:xfrm>
            <a:off x="400000" y="1550000"/>
            <a:ext cx="5500000" cy="2100000"/>
          </a:xfrm>
          <a:prstGeom prst="rect">
            <a:avLst/>
          </a:prstGeom>
          <a:solidFill>
            <a:srgbClr val="F8F9F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b="1" dirty="0">
                <a:solidFill>
                  <a:srgbClr val="E46C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 Dynamic Routing</a:t>
            </a:r>
          </a:p>
          <a:p>
            <a:pPr algn="l">
              <a:spcBef>
                <a:spcPts val="200"/>
              </a:spcBef>
            </a:pPr>
            <a:r>
              <a:rPr lang="en-US" sz="1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path recomputation in response to network congestion or failure</a:t>
            </a:r>
          </a:p>
        </p:txBody>
      </p:sp>
      <p:sp>
        <p:nvSpPr>
          <p:cNvPr id="7" name="fbox"/>
          <p:cNvSpPr txBox="1"/>
          <p:nvPr/>
        </p:nvSpPr>
        <p:spPr>
          <a:xfrm>
            <a:off x="6200000" y="1550000"/>
            <a:ext cx="5500000" cy="2100000"/>
          </a:xfrm>
          <a:prstGeom prst="rect">
            <a:avLst/>
          </a:prstGeom>
          <a:solidFill>
            <a:srgbClr val="F8F9F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b="1" dirty="0">
                <a:solidFill>
                  <a:srgbClr val="1565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  Autonomous Self-Healing</a:t>
            </a:r>
          </a:p>
          <a:p>
            <a:pPr algn="l">
              <a:spcBef>
                <a:spcPts val="200"/>
              </a:spcBef>
            </a:pPr>
            <a:r>
              <a:rPr lang="en-US" sz="1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rerouting upon link or node failures — zero human intervention</a:t>
            </a:r>
          </a:p>
        </p:txBody>
      </p:sp>
      <p:sp>
        <p:nvSpPr>
          <p:cNvPr id="8" name="fbox"/>
          <p:cNvSpPr txBox="1"/>
          <p:nvPr/>
        </p:nvSpPr>
        <p:spPr>
          <a:xfrm>
            <a:off x="400000" y="3900000"/>
            <a:ext cx="5500000" cy="2100000"/>
          </a:xfrm>
          <a:prstGeom prst="rect">
            <a:avLst/>
          </a:prstGeom>
          <a:solidFill>
            <a:srgbClr val="F8F9F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b="1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  Dual-Metric Optimization</a:t>
            </a:r>
          </a:p>
          <a:p>
            <a:pPr algn="l">
              <a:spcBef>
                <a:spcPts val="200"/>
              </a:spcBef>
            </a:pPr>
            <a:r>
              <a:rPr lang="en-US" sz="1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Simultaneous optimization for link cost and bottleneck bandwidth</a:t>
            </a:r>
          </a:p>
        </p:txBody>
      </p:sp>
      <p:sp>
        <p:nvSpPr>
          <p:cNvPr id="9" name="fbox"/>
          <p:cNvSpPr txBox="1"/>
          <p:nvPr/>
        </p:nvSpPr>
        <p:spPr>
          <a:xfrm>
            <a:off x="6200000" y="3900000"/>
            <a:ext cx="5500000" cy="2100000"/>
          </a:xfrm>
          <a:prstGeom prst="rect">
            <a:avLst/>
          </a:prstGeom>
          <a:solidFill>
            <a:srgbClr val="F8F9F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2400" b="1" dirty="0">
                <a:solidFill>
                  <a:srgbClr val="6A1B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  Sub-Millisecond Convergence</a:t>
            </a:r>
          </a:p>
          <a:p>
            <a:pPr algn="l">
              <a:spcBef>
                <a:spcPts val="200"/>
              </a:spcBef>
            </a:pPr>
            <a:r>
              <a:rPr lang="en-US" sz="1400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Re-convergence averaging 0.54 ms — over 4 orders of magnitude faster than OSPF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Bar"/>
          <p:cNvSpPr txBox="1">
            <a:spLocks noChangeArrowheads="1"/>
          </p:cNvSpPr>
          <p:nvPr/>
        </p:nvSpPr>
        <p:spPr bwMode="auto">
          <a:xfrm>
            <a:off x="0" y="6486754"/>
            <a:ext cx="12192000" cy="371513"/>
          </a:xfrm>
          <a:prstGeom prst="rect">
            <a:avLst/>
          </a:prstGeom>
          <a:solidFill>
            <a:srgbClr val="E46C0A"/>
          </a:solidFill>
        </p:spPr>
        <p:txBody>
          <a:bodyPr wrap="square" lIns="90000" tIns="46800" rIns="90000" bIns="46800">
            <a:spAutoFit/>
          </a:bodyPr>
          <a:lstStyle/>
          <a:p>
            <a:pPr algn="ctr">
              <a:spcBef>
                <a:spcPts val="1125"/>
              </a:spcBef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Sudeep Sharma, Prakhar Singh 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 No. 230907340 &amp; 230907450, ECE, MIT.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16832" y="6570513"/>
            <a:ext cx="914400" cy="203994"/>
          </a:xfrm>
        </p:spPr>
        <p:txBody>
          <a:bodyPr/>
          <a:lstStyle/>
          <a:p>
            <a:fld id="{D1D7ACCA-8485-4958-B811-C4240EBF000A}" type="datetime5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24-Mar-26</a:t>
            </a:fld>
            <a:endParaRPr lang="en-US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131968" y="6434716"/>
            <a:ext cx="2743200" cy="365125"/>
          </a:xfrm>
        </p:spPr>
        <p:txBody>
          <a:bodyPr/>
          <a:lstStyle/>
          <a:p>
            <a:fld id="{49C05B83-7B02-450B-B7D4-1E54CDF37B95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IN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1" y="791817"/>
            <a:ext cx="12191999" cy="11668"/>
          </a:xfrm>
          <a:prstGeom prst="line">
            <a:avLst/>
          </a:prstGeom>
          <a:noFill/>
          <a:ln w="31680">
            <a:solidFill>
              <a:srgbClr val="E46C0A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201" y="126629"/>
            <a:ext cx="584799" cy="608191"/>
          </a:xfrm>
          <a:prstGeom prst="rect">
            <a:avLst/>
          </a:prstGeom>
        </p:spPr>
      </p:pic>
      <p:sp>
        <p:nvSpPr>
          <p:cNvPr id="22" name="HdrTitle"/>
          <p:cNvSpPr txBox="1"/>
          <p:nvPr/>
        </p:nvSpPr>
        <p:spPr>
          <a:xfrm>
            <a:off x="4178507" y="249488"/>
            <a:ext cx="403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COMMUNICATION NETWORKS LAB</a:t>
            </a:r>
          </a:p>
        </p:txBody>
      </p:sp>
      <p:sp>
        <p:nvSpPr>
          <p:cNvPr id="99" name="tb"/>
          <p:cNvSpPr txBox="1">
            <a:spLocks noChangeArrowheads="1"/>
          </p:cNvSpPr>
          <p:nvPr/>
        </p:nvSpPr>
        <p:spPr bwMode="auto">
          <a:xfrm>
            <a:off x="400000" y="900000"/>
            <a:ext cx="11000000" cy="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lnSpcReduction="10000"/>
          </a:bodyPr>
          <a:lstStyle/>
          <a:p>
            <a:pPr algn="l">
              <a:spcBef>
                <a:spcPts val="200"/>
              </a:spcBef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Contributions &amp; Novelty</a:t>
            </a:r>
          </a:p>
        </p:txBody>
      </p:sp>
      <p:sp>
        <p:nvSpPr>
          <p:cNvPr id="98" name="fbox"/>
          <p:cNvSpPr txBox="1"/>
          <p:nvPr/>
        </p:nvSpPr>
        <p:spPr>
          <a:xfrm>
            <a:off x="400000" y="1500000"/>
            <a:ext cx="3600000" cy="2300000"/>
          </a:xfrm>
          <a:prstGeom prst="rect">
            <a:avLst/>
          </a:prstGeom>
          <a:solidFill>
            <a:srgbClr val="FFF3E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1700" b="1" dirty="0">
                <a:solidFill>
                  <a:srgbClr val="E46C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Exists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RIP/OSPF: fixed topology, no runtime adaptability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SDN controllers: overhead &amp; single-point-of-failure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approaches: large training data, high compute</a:t>
            </a:r>
          </a:p>
        </p:txBody>
      </p:sp>
      <p:sp>
        <p:nvSpPr>
          <p:cNvPr id="7" name="fbox"/>
          <p:cNvSpPr txBox="1"/>
          <p:nvPr/>
        </p:nvSpPr>
        <p:spPr>
          <a:xfrm>
            <a:off x="4200000" y="1500000"/>
            <a:ext cx="7600000" cy="2300000"/>
          </a:xfrm>
          <a:prstGeom prst="rect">
            <a:avLst/>
          </a:prstGeom>
          <a:solidFill>
            <a:srgbClr val="E8F5E9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1700" b="1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Contribution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MATLAB simulator: randomized topology + dual-metric evaluation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failure injection + autonomous self-healing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capabilities unified in a single accessible tool</a:t>
            </a:r>
          </a:p>
        </p:txBody>
      </p:sp>
      <p:sp>
        <p:nvSpPr>
          <p:cNvPr id="8" name="fbox"/>
          <p:cNvSpPr txBox="1"/>
          <p:nvPr/>
        </p:nvSpPr>
        <p:spPr>
          <a:xfrm>
            <a:off x="400000" y="4100000"/>
            <a:ext cx="2100000" cy="900000"/>
          </a:xfrm>
          <a:prstGeom prst="rect">
            <a:avLst/>
          </a:prstGeom>
          <a:solidFill>
            <a:srgbClr val="E46C0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50"/>
              </a:spcBef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
Weight Updates</a:t>
            </a:r>
          </a:p>
        </p:txBody>
      </p:sp>
      <p:sp>
        <p:nvSpPr>
          <p:cNvPr id="9" name="fbox"/>
          <p:cNvSpPr txBox="1"/>
          <p:nvPr/>
        </p:nvSpPr>
        <p:spPr>
          <a:xfrm>
            <a:off x="2760000" y="4100000"/>
            <a:ext cx="2100000" cy="900000"/>
          </a:xfrm>
          <a:prstGeom prst="rect">
            <a:avLst/>
          </a:prstGeom>
          <a:solidFill>
            <a:srgbClr val="1565C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50"/>
              </a:spcBef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 Metric
Cost + Bandwidth</a:t>
            </a:r>
          </a:p>
        </p:txBody>
      </p:sp>
      <p:sp>
        <p:nvSpPr>
          <p:cNvPr id="10" name="fbox"/>
          <p:cNvSpPr txBox="1"/>
          <p:nvPr/>
        </p:nvSpPr>
        <p:spPr>
          <a:xfrm>
            <a:off x="5120000" y="4100000"/>
            <a:ext cx="2100000" cy="900000"/>
          </a:xfrm>
          <a:prstGeom prst="rect">
            <a:avLst/>
          </a:prstGeom>
          <a:solidFill>
            <a:srgbClr val="2E7D32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50"/>
              </a:spcBef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Sub-ms
Re-Convergence</a:t>
            </a:r>
          </a:p>
        </p:txBody>
      </p:sp>
      <p:sp>
        <p:nvSpPr>
          <p:cNvPr id="11" name="fbox"/>
          <p:cNvSpPr txBox="1"/>
          <p:nvPr/>
        </p:nvSpPr>
        <p:spPr>
          <a:xfrm>
            <a:off x="7480000" y="4100000"/>
            <a:ext cx="2100000" cy="900000"/>
          </a:xfrm>
          <a:prstGeom prst="rect">
            <a:avLst/>
          </a:prstGeom>
          <a:solidFill>
            <a:srgbClr val="6A1B9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50"/>
              </a:spcBef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MATLAB
Simulation</a:t>
            </a:r>
          </a:p>
        </p:txBody>
      </p:sp>
      <p:sp>
        <p:nvSpPr>
          <p:cNvPr id="12" name="fbox"/>
          <p:cNvSpPr txBox="1"/>
          <p:nvPr/>
        </p:nvSpPr>
        <p:spPr>
          <a:xfrm>
            <a:off x="9840000" y="4100000"/>
            <a:ext cx="2100000" cy="900000"/>
          </a:xfrm>
          <a:prstGeom prst="rect">
            <a:avLst/>
          </a:prstGeom>
          <a:solidFill>
            <a:srgbClr val="B71C1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50"/>
              </a:spcBef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
Stress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Bar"/>
          <p:cNvSpPr txBox="1">
            <a:spLocks noChangeArrowheads="1"/>
          </p:cNvSpPr>
          <p:nvPr/>
        </p:nvSpPr>
        <p:spPr bwMode="auto">
          <a:xfrm>
            <a:off x="0" y="6486754"/>
            <a:ext cx="12192000" cy="371513"/>
          </a:xfrm>
          <a:prstGeom prst="rect">
            <a:avLst/>
          </a:prstGeom>
          <a:solidFill>
            <a:srgbClr val="E46C0A"/>
          </a:solidFill>
        </p:spPr>
        <p:txBody>
          <a:bodyPr wrap="square" lIns="90000" tIns="46800" rIns="90000" bIns="46800">
            <a:spAutoFit/>
          </a:bodyPr>
          <a:lstStyle/>
          <a:p>
            <a:pPr algn="ctr">
              <a:spcBef>
                <a:spcPts val="1125"/>
              </a:spcBef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Sudeep Sharma, Prakhar Singh 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 No. 230907340 &amp; 230907450, ECE, MIT.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16832" y="6570513"/>
            <a:ext cx="914400" cy="203994"/>
          </a:xfrm>
        </p:spPr>
        <p:txBody>
          <a:bodyPr/>
          <a:lstStyle/>
          <a:p>
            <a:fld id="{D1D7ACCA-8485-4958-B811-C4240EBF000A}" type="datetime5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24-Mar-26</a:t>
            </a:fld>
            <a:endParaRPr lang="en-US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131968" y="6434716"/>
            <a:ext cx="2743200" cy="365125"/>
          </a:xfrm>
        </p:spPr>
        <p:txBody>
          <a:bodyPr/>
          <a:lstStyle/>
          <a:p>
            <a:fld id="{49C05B83-7B02-450B-B7D4-1E54CDF37B95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IN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1" y="791817"/>
            <a:ext cx="12191999" cy="11668"/>
          </a:xfrm>
          <a:prstGeom prst="line">
            <a:avLst/>
          </a:prstGeom>
          <a:noFill/>
          <a:ln w="31680">
            <a:solidFill>
              <a:srgbClr val="E46C0A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201" y="126629"/>
            <a:ext cx="584799" cy="608191"/>
          </a:xfrm>
          <a:prstGeom prst="rect">
            <a:avLst/>
          </a:prstGeom>
        </p:spPr>
      </p:pic>
      <p:sp>
        <p:nvSpPr>
          <p:cNvPr id="22" name="HdrTitle"/>
          <p:cNvSpPr txBox="1"/>
          <p:nvPr/>
        </p:nvSpPr>
        <p:spPr>
          <a:xfrm>
            <a:off x="4178507" y="249488"/>
            <a:ext cx="403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COMMUNICATION NETWORKS LAB</a:t>
            </a:r>
          </a:p>
        </p:txBody>
      </p:sp>
      <p:sp>
        <p:nvSpPr>
          <p:cNvPr id="99" name="tb"/>
          <p:cNvSpPr txBox="1">
            <a:spLocks noChangeArrowheads="1"/>
          </p:cNvSpPr>
          <p:nvPr/>
        </p:nvSpPr>
        <p:spPr bwMode="auto">
          <a:xfrm>
            <a:off x="400000" y="900000"/>
            <a:ext cx="11000000" cy="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lnSpcReduction="10000"/>
          </a:bodyPr>
          <a:lstStyle/>
          <a:p>
            <a:pPr algn="l">
              <a:spcBef>
                <a:spcPts val="200"/>
              </a:spcBef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Model</a:t>
            </a:r>
          </a:p>
        </p:txBody>
      </p:sp>
      <p:sp>
        <p:nvSpPr>
          <p:cNvPr id="98" name="fbox"/>
          <p:cNvSpPr txBox="1"/>
          <p:nvPr/>
        </p:nvSpPr>
        <p:spPr>
          <a:xfrm>
            <a:off x="400000" y="1500000"/>
            <a:ext cx="6800000" cy="3000000"/>
          </a:xfrm>
          <a:prstGeom prst="rect">
            <a:avLst/>
          </a:prstGeom>
          <a:solidFill>
            <a:srgbClr val="F7F7F7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Graph   G = (V, E, W, B)</a:t>
            </a:r>
          </a:p>
          <a:p>
            <a:pPr algn="l">
              <a:spcBef>
                <a:spcPts val="150"/>
              </a:spcBef>
            </a:pPr>
            <a:r>
              <a:rPr lang="en-US" sz="1500" b="1" dirty="0">
                <a:solidFill>
                  <a:srgbClr val="E46C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  <a:p>
            <a:pPr algn="l">
              <a:spcBef>
                <a:spcPts val="5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Set of routers (nodes)</a:t>
            </a:r>
          </a:p>
          <a:p>
            <a:pPr algn="l">
              <a:spcBef>
                <a:spcPts val="150"/>
              </a:spcBef>
            </a:pPr>
            <a:r>
              <a:rPr lang="en-US" sz="1500" b="1" dirty="0">
                <a:solidFill>
                  <a:srgbClr val="E46C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⊆ V×V</a:t>
            </a:r>
          </a:p>
          <a:p>
            <a:pPr algn="l">
              <a:spcBef>
                <a:spcPts val="5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Set of communication links (edges)</a:t>
            </a:r>
          </a:p>
          <a:p>
            <a:pPr algn="l">
              <a:spcBef>
                <a:spcPts val="150"/>
              </a:spcBef>
            </a:pPr>
            <a:r>
              <a:rPr lang="en-US" sz="1500" b="1" dirty="0">
                <a:solidFill>
                  <a:srgbClr val="E46C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 : E → ℝ⁺</a:t>
            </a:r>
          </a:p>
          <a:p>
            <a:pPr algn="l">
              <a:spcBef>
                <a:spcPts val="5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Cost function — latency/distance ∈ [1, 50]</a:t>
            </a:r>
          </a:p>
          <a:p>
            <a:pPr algn="l">
              <a:spcBef>
                <a:spcPts val="150"/>
              </a:spcBef>
            </a:pPr>
            <a:r>
              <a:rPr lang="en-US" sz="1500" b="1" dirty="0">
                <a:solidFill>
                  <a:srgbClr val="E46C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: E → ℝ⁺</a:t>
            </a:r>
          </a:p>
          <a:p>
            <a:pPr algn="l">
              <a:spcBef>
                <a:spcPts val="5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Bandwidth function ∈ {10, 100, 1000} Mbps</a:t>
            </a:r>
          </a:p>
        </p:txBody>
      </p:sp>
      <p:sp>
        <p:nvSpPr>
          <p:cNvPr id="7" name="fbox"/>
          <p:cNvSpPr txBox="1"/>
          <p:nvPr/>
        </p:nvSpPr>
        <p:spPr>
          <a:xfrm>
            <a:off x="7400000" y="1500000"/>
            <a:ext cx="4400000" cy="3000000"/>
          </a:xfrm>
          <a:prstGeom prst="rect">
            <a:avLst/>
          </a:prstGeom>
          <a:solidFill>
            <a:srgbClr val="FFF3E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1700" b="1" dirty="0">
                <a:solidFill>
                  <a:srgbClr val="E46C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Failure Models</a:t>
            </a:r>
          </a:p>
          <a:p>
            <a:pPr algn="l">
              <a:spcBef>
                <a:spcPts val="200"/>
              </a:spcBef>
            </a:pPr>
            <a:r>
              <a:rPr lang="en-US" sz="1500" b="1" dirty="0">
                <a:solidFill>
                  <a:srgbClr val="B7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Failure</a:t>
            </a:r>
          </a:p>
          <a:p>
            <a:pPr algn="l">
              <a:spcBef>
                <a:spcPts val="8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w(u,v) ← ∞  — edge removed from graph</a:t>
            </a:r>
          </a:p>
          <a:p>
            <a:pPr algn="l">
              <a:spcBef>
                <a:spcPts val="200"/>
              </a:spcBef>
            </a:pPr>
            <a:r>
              <a:rPr lang="en-US" sz="1500" b="1" dirty="0">
                <a:solidFill>
                  <a:srgbClr val="B7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Failure</a:t>
            </a:r>
          </a:p>
          <a:p>
            <a:pPr algn="l">
              <a:spcBef>
                <a:spcPts val="8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∀v' ∈ N(v): w(v,v') ← ∞</a:t>
            </a:r>
          </a:p>
          <a:p>
            <a:pPr algn="l">
              <a:spcBef>
                <a:spcPts val="8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incident edges invalidated</a:t>
            </a:r>
          </a:p>
        </p:txBody>
      </p:sp>
      <p:sp>
        <p:nvSpPr>
          <p:cNvPr id="8" name="fbox"/>
          <p:cNvSpPr txBox="1"/>
          <p:nvPr/>
        </p:nvSpPr>
        <p:spPr>
          <a:xfrm>
            <a:off x="400000" y="4700000"/>
            <a:ext cx="11400000" cy="1400000"/>
          </a:xfrm>
          <a:prstGeom prst="rect">
            <a:avLst/>
          </a:prstGeom>
          <a:solidFill>
            <a:srgbClr val="E8F5E9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1700" b="1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Equations</a:t>
            </a:r>
          </a:p>
          <a:p>
            <a:pPr algn="l">
              <a:spcBef>
                <a:spcPts val="150"/>
              </a:spcBef>
            </a:pPr>
            <a:r>
              <a:rPr lang="en-US" sz="15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Cost:          C(P) = Σ w(u,v)   for all (u,v) ∈ P</a:t>
            </a:r>
          </a:p>
          <a:p>
            <a:pPr algn="l">
              <a:spcBef>
                <a:spcPts val="150"/>
              </a:spcBef>
            </a:pPr>
            <a:r>
              <a:rPr lang="en-US" sz="15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Bottleneck BW:  BW(P) = min b(u,v)   for all (u,v) ∈ 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Bar"/>
          <p:cNvSpPr txBox="1">
            <a:spLocks noChangeArrowheads="1"/>
          </p:cNvSpPr>
          <p:nvPr/>
        </p:nvSpPr>
        <p:spPr bwMode="auto">
          <a:xfrm>
            <a:off x="0" y="6486754"/>
            <a:ext cx="12192000" cy="371513"/>
          </a:xfrm>
          <a:prstGeom prst="rect">
            <a:avLst/>
          </a:prstGeom>
          <a:solidFill>
            <a:srgbClr val="E46C0A"/>
          </a:solidFill>
        </p:spPr>
        <p:txBody>
          <a:bodyPr wrap="square" lIns="90000" tIns="46800" rIns="90000" bIns="46800">
            <a:spAutoFit/>
          </a:bodyPr>
          <a:lstStyle/>
          <a:p>
            <a:pPr algn="ctr">
              <a:spcBef>
                <a:spcPts val="1125"/>
              </a:spcBef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Sudeep Sharma, Prakhar Singh 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 No. 230907340 &amp; 230907450, ECE, MIT.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16832" y="6570513"/>
            <a:ext cx="914400" cy="203994"/>
          </a:xfrm>
        </p:spPr>
        <p:txBody>
          <a:bodyPr/>
          <a:lstStyle/>
          <a:p>
            <a:fld id="{D1D7ACCA-8485-4958-B811-C4240EBF000A}" type="datetime5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24-Mar-26</a:t>
            </a:fld>
            <a:endParaRPr lang="en-US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131968" y="6434716"/>
            <a:ext cx="2743200" cy="365125"/>
          </a:xfrm>
        </p:spPr>
        <p:txBody>
          <a:bodyPr/>
          <a:lstStyle/>
          <a:p>
            <a:fld id="{49C05B83-7B02-450B-B7D4-1E54CDF37B95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1" y="791817"/>
            <a:ext cx="12191999" cy="11668"/>
          </a:xfrm>
          <a:prstGeom prst="line">
            <a:avLst/>
          </a:prstGeom>
          <a:noFill/>
          <a:ln w="31680">
            <a:solidFill>
              <a:srgbClr val="E46C0A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201" y="126629"/>
            <a:ext cx="584799" cy="608191"/>
          </a:xfrm>
          <a:prstGeom prst="rect">
            <a:avLst/>
          </a:prstGeom>
        </p:spPr>
      </p:pic>
      <p:sp>
        <p:nvSpPr>
          <p:cNvPr id="22" name="HdrTitle"/>
          <p:cNvSpPr txBox="1"/>
          <p:nvPr/>
        </p:nvSpPr>
        <p:spPr>
          <a:xfrm>
            <a:off x="4178507" y="249488"/>
            <a:ext cx="403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COMMUNICATION NETWORKS LAB</a:t>
            </a:r>
          </a:p>
        </p:txBody>
      </p:sp>
      <p:sp>
        <p:nvSpPr>
          <p:cNvPr id="99" name="tb"/>
          <p:cNvSpPr txBox="1">
            <a:spLocks noChangeArrowheads="1"/>
          </p:cNvSpPr>
          <p:nvPr/>
        </p:nvSpPr>
        <p:spPr bwMode="auto">
          <a:xfrm>
            <a:off x="400000" y="900000"/>
            <a:ext cx="11000000" cy="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lnSpcReduction="10000"/>
          </a:bodyPr>
          <a:lstStyle/>
          <a:p>
            <a:pPr algn="l">
              <a:spcBef>
                <a:spcPts val="200"/>
              </a:spcBef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— Five-Phase Architecture</a:t>
            </a:r>
          </a:p>
        </p:txBody>
      </p:sp>
      <p:sp>
        <p:nvSpPr>
          <p:cNvPr id="98" name="fbox"/>
          <p:cNvSpPr txBox="1"/>
          <p:nvPr/>
        </p:nvSpPr>
        <p:spPr>
          <a:xfrm>
            <a:off x="400000" y="1600000"/>
            <a:ext cx="2100000" cy="90000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" name="fbox"/>
          <p:cNvSpPr txBox="1"/>
          <p:nvPr/>
        </p:nvSpPr>
        <p:spPr>
          <a:xfrm>
            <a:off x="400000" y="2550000"/>
            <a:ext cx="2100000" cy="900000"/>
          </a:xfrm>
          <a:prstGeom prst="rect">
            <a:avLst/>
          </a:prstGeom>
          <a:solidFill>
            <a:srgbClr val="E46C0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50"/>
              </a:spcBef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Topology
Generator</a:t>
            </a:r>
          </a:p>
        </p:txBody>
      </p:sp>
      <p:sp>
        <p:nvSpPr>
          <p:cNvPr id="8" name="fbox"/>
          <p:cNvSpPr txBox="1"/>
          <p:nvPr/>
        </p:nvSpPr>
        <p:spPr>
          <a:xfrm>
            <a:off x="400000" y="3500000"/>
            <a:ext cx="2100000" cy="2700000"/>
          </a:xfrm>
          <a:prstGeom prst="rect">
            <a:avLst/>
          </a:prstGeom>
          <a:solidFill>
            <a:srgbClr val="F7F7F7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DijkstraSimMain.m
Spanning tree + random mesh
p = 0.30 cross-link probability</a:t>
            </a:r>
          </a:p>
        </p:txBody>
      </p:sp>
      <p:sp>
        <p:nvSpPr>
          <p:cNvPr id="9" name="fbox"/>
          <p:cNvSpPr txBox="1"/>
          <p:nvPr/>
        </p:nvSpPr>
        <p:spPr>
          <a:xfrm>
            <a:off x="2760000" y="1600000"/>
            <a:ext cx="2100000" cy="90000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" name="fbox"/>
          <p:cNvSpPr txBox="1"/>
          <p:nvPr/>
        </p:nvSpPr>
        <p:spPr>
          <a:xfrm>
            <a:off x="2760000" y="2550000"/>
            <a:ext cx="2100000" cy="900000"/>
          </a:xfrm>
          <a:prstGeom prst="rect">
            <a:avLst/>
          </a:prstGeom>
          <a:solidFill>
            <a:srgbClr val="E46C0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50"/>
              </a:spcBef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
Engine</a:t>
            </a:r>
          </a:p>
        </p:txBody>
      </p:sp>
      <p:sp>
        <p:nvSpPr>
          <p:cNvPr id="11" name="fbox"/>
          <p:cNvSpPr txBox="1"/>
          <p:nvPr/>
        </p:nvSpPr>
        <p:spPr>
          <a:xfrm>
            <a:off x="2760000" y="3500000"/>
            <a:ext cx="2100000" cy="2700000"/>
          </a:xfrm>
          <a:prstGeom prst="rect">
            <a:avLst/>
          </a:prstGeom>
          <a:solidFill>
            <a:srgbClr val="F7F7F7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customDijkstraPQ.m
Min-priority-queue Dijkstra
O((V+E) log V)</a:t>
            </a:r>
          </a:p>
        </p:txBody>
      </p:sp>
      <p:sp>
        <p:nvSpPr>
          <p:cNvPr id="12" name="fbox"/>
          <p:cNvSpPr txBox="1"/>
          <p:nvPr/>
        </p:nvSpPr>
        <p:spPr>
          <a:xfrm>
            <a:off x="5120000" y="1600000"/>
            <a:ext cx="2100000" cy="90000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3" name="fbox"/>
          <p:cNvSpPr txBox="1"/>
          <p:nvPr/>
        </p:nvSpPr>
        <p:spPr>
          <a:xfrm>
            <a:off x="5120000" y="2550000"/>
            <a:ext cx="2100000" cy="900000"/>
          </a:xfrm>
          <a:prstGeom prst="rect">
            <a:avLst/>
          </a:prstGeom>
          <a:solidFill>
            <a:srgbClr val="E46C0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50"/>
              </a:spcBef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Congestion
Simulation</a:t>
            </a:r>
          </a:p>
        </p:txBody>
      </p:sp>
      <p:sp>
        <p:nvSpPr>
          <p:cNvPr id="14" name="fbox"/>
          <p:cNvSpPr txBox="1"/>
          <p:nvPr/>
        </p:nvSpPr>
        <p:spPr>
          <a:xfrm>
            <a:off x="5120000" y="3500000"/>
            <a:ext cx="2100000" cy="2700000"/>
          </a:xfrm>
          <a:prstGeom prst="rect">
            <a:avLst/>
          </a:prstGeom>
          <a:solidFill>
            <a:srgbClr val="F7F7F7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DijkstraSimMain.m (Opt 1)
Weight injection
Immediate re-convergence</a:t>
            </a:r>
          </a:p>
        </p:txBody>
      </p:sp>
      <p:sp>
        <p:nvSpPr>
          <p:cNvPr id="15" name="fbox"/>
          <p:cNvSpPr txBox="1"/>
          <p:nvPr/>
        </p:nvSpPr>
        <p:spPr>
          <a:xfrm>
            <a:off x="7480000" y="1600000"/>
            <a:ext cx="2100000" cy="90000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6" name="fbox"/>
          <p:cNvSpPr txBox="1"/>
          <p:nvPr/>
        </p:nvSpPr>
        <p:spPr>
          <a:xfrm>
            <a:off x="7480000" y="2550000"/>
            <a:ext cx="2100000" cy="900000"/>
          </a:xfrm>
          <a:prstGeom prst="rect">
            <a:avLst/>
          </a:prstGeom>
          <a:solidFill>
            <a:srgbClr val="E46C0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50"/>
              </a:spcBef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Failure
Recovery</a:t>
            </a:r>
          </a:p>
        </p:txBody>
      </p:sp>
      <p:sp>
        <p:nvSpPr>
          <p:cNvPr id="17" name="fbox"/>
          <p:cNvSpPr txBox="1"/>
          <p:nvPr/>
        </p:nvSpPr>
        <p:spPr>
          <a:xfrm>
            <a:off x="7480000" y="3500000"/>
            <a:ext cx="2100000" cy="2700000"/>
          </a:xfrm>
          <a:prstGeom prst="rect">
            <a:avLst/>
          </a:prstGeom>
          <a:solidFill>
            <a:srgbClr val="F7F7F7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DijkstraSimMain.m (Opts 2,4)
Link/Node removal → ∞
Self-healing bypass</a:t>
            </a:r>
          </a:p>
        </p:txBody>
      </p:sp>
      <p:sp>
        <p:nvSpPr>
          <p:cNvPr id="18" name="fbox"/>
          <p:cNvSpPr txBox="1"/>
          <p:nvPr/>
        </p:nvSpPr>
        <p:spPr>
          <a:xfrm>
            <a:off x="9840000" y="1600000"/>
            <a:ext cx="2100000" cy="90000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9" name="fbox"/>
          <p:cNvSpPr txBox="1"/>
          <p:nvPr/>
        </p:nvSpPr>
        <p:spPr>
          <a:xfrm>
            <a:off x="9840000" y="2550000"/>
            <a:ext cx="2100000" cy="900000"/>
          </a:xfrm>
          <a:prstGeom prst="rect">
            <a:avLst/>
          </a:prstGeom>
          <a:solidFill>
            <a:srgbClr val="E46C0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50"/>
              </a:spcBef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
Evaluation</a:t>
            </a:r>
          </a:p>
        </p:txBody>
      </p:sp>
      <p:sp>
        <p:nvSpPr>
          <p:cNvPr id="20" name="fbox"/>
          <p:cNvSpPr txBox="1"/>
          <p:nvPr/>
        </p:nvSpPr>
        <p:spPr>
          <a:xfrm>
            <a:off x="9840000" y="3500000"/>
            <a:ext cx="2100000" cy="2700000"/>
          </a:xfrm>
          <a:prstGeom prst="rect">
            <a:avLst/>
          </a:prstGeom>
          <a:solidFill>
            <a:srgbClr val="F7F7F7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tic/toc timers + BW analysis
Convergence timing
Bottleneck BW measurement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Bar"/>
          <p:cNvSpPr txBox="1">
            <a:spLocks noChangeArrowheads="1"/>
          </p:cNvSpPr>
          <p:nvPr/>
        </p:nvSpPr>
        <p:spPr bwMode="auto">
          <a:xfrm>
            <a:off x="0" y="6486754"/>
            <a:ext cx="12192000" cy="371513"/>
          </a:xfrm>
          <a:prstGeom prst="rect">
            <a:avLst/>
          </a:prstGeom>
          <a:solidFill>
            <a:srgbClr val="E46C0A"/>
          </a:solidFill>
        </p:spPr>
        <p:txBody>
          <a:bodyPr wrap="square" lIns="90000" tIns="46800" rIns="90000" bIns="46800">
            <a:spAutoFit/>
          </a:bodyPr>
          <a:lstStyle/>
          <a:p>
            <a:pPr algn="ctr">
              <a:spcBef>
                <a:spcPts val="1125"/>
              </a:spcBef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Sudeep Sharma, Prakhar Singh 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 No. 230907340 &amp; 230907450, ECE, MIT.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16832" y="6570513"/>
            <a:ext cx="914400" cy="203994"/>
          </a:xfrm>
        </p:spPr>
        <p:txBody>
          <a:bodyPr/>
          <a:lstStyle/>
          <a:p>
            <a:fld id="{D1D7ACCA-8485-4958-B811-C4240EBF000A}" type="datetime5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24-Mar-26</a:t>
            </a:fld>
            <a:endParaRPr lang="en-US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131968" y="6434716"/>
            <a:ext cx="2743200" cy="365125"/>
          </a:xfrm>
        </p:spPr>
        <p:txBody>
          <a:bodyPr/>
          <a:lstStyle/>
          <a:p>
            <a:fld id="{49C05B83-7B02-450B-B7D4-1E54CDF37B95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1" y="791817"/>
            <a:ext cx="12191999" cy="11668"/>
          </a:xfrm>
          <a:prstGeom prst="line">
            <a:avLst/>
          </a:prstGeom>
          <a:noFill/>
          <a:ln w="31680">
            <a:solidFill>
              <a:srgbClr val="E46C0A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201" y="126629"/>
            <a:ext cx="584799" cy="608191"/>
          </a:xfrm>
          <a:prstGeom prst="rect">
            <a:avLst/>
          </a:prstGeom>
        </p:spPr>
      </p:pic>
      <p:sp>
        <p:nvSpPr>
          <p:cNvPr id="22" name="HdrTitle"/>
          <p:cNvSpPr txBox="1"/>
          <p:nvPr/>
        </p:nvSpPr>
        <p:spPr>
          <a:xfrm>
            <a:off x="4178507" y="249488"/>
            <a:ext cx="403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COMMUNICATION NETWORKS LAB</a:t>
            </a:r>
          </a:p>
        </p:txBody>
      </p:sp>
      <p:sp>
        <p:nvSpPr>
          <p:cNvPr id="99" name="tb"/>
          <p:cNvSpPr txBox="1">
            <a:spLocks noChangeArrowheads="1"/>
          </p:cNvSpPr>
          <p:nvPr/>
        </p:nvSpPr>
        <p:spPr bwMode="auto">
          <a:xfrm>
            <a:off x="400000" y="900000"/>
            <a:ext cx="11000000" cy="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lnSpcReduction="10000"/>
          </a:bodyPr>
          <a:lstStyle/>
          <a:p>
            <a:pPr algn="l">
              <a:spcBef>
                <a:spcPts val="200"/>
              </a:spcBef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Phase-wise Breakdown</a:t>
            </a:r>
          </a:p>
        </p:txBody>
      </p:sp>
      <p:sp>
        <p:nvSpPr>
          <p:cNvPr id="98" name="fbox"/>
          <p:cNvSpPr txBox="1"/>
          <p:nvPr/>
        </p:nvSpPr>
        <p:spPr>
          <a:xfrm>
            <a:off x="400000" y="1500000"/>
            <a:ext cx="5500000" cy="22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1700" b="1" dirty="0">
                <a:solidFill>
                  <a:srgbClr val="E46C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 Topology Generation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nodes defined at runtime by user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Spanning tree ensures full connectivity (N−1 edges)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Cross-links added with probability p = 0.30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w ∈ [1,50]; BW b ∈ {10, 100, 1000} Mbps</a:t>
            </a:r>
          </a:p>
        </p:txBody>
      </p:sp>
      <p:sp>
        <p:nvSpPr>
          <p:cNvPr id="7" name="fbox"/>
          <p:cNvSpPr txBox="1"/>
          <p:nvPr/>
        </p:nvSpPr>
        <p:spPr>
          <a:xfrm>
            <a:off x="6200000" y="1500000"/>
            <a:ext cx="5500000" cy="22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1700" b="1" dirty="0">
                <a:solidFill>
                  <a:srgbClr val="1565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  Routing Engine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Min-priority-queue Dijkstra implementation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Stale queue entries discarded without reprocessing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reconstruction via previous[] backtracking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Runtime well under 1 ms on 10–25 node networks</a:t>
            </a:r>
          </a:p>
        </p:txBody>
      </p:sp>
      <p:sp>
        <p:nvSpPr>
          <p:cNvPr id="8" name="fbox"/>
          <p:cNvSpPr txBox="1"/>
          <p:nvPr/>
        </p:nvSpPr>
        <p:spPr>
          <a:xfrm>
            <a:off x="400000" y="4000000"/>
            <a:ext cx="5500000" cy="22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1700" b="1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  Congestion Simulation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 injection on selected link (e.g., 10 → 200)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Simulates heavy traffic load on that path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 re-converges; detour selected automatically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Congested link highlighted; new path reported</a:t>
            </a:r>
          </a:p>
        </p:txBody>
      </p:sp>
      <p:sp>
        <p:nvSpPr>
          <p:cNvPr id="9" name="fbox"/>
          <p:cNvSpPr txBox="1"/>
          <p:nvPr/>
        </p:nvSpPr>
        <p:spPr>
          <a:xfrm>
            <a:off x="6200000" y="4000000"/>
            <a:ext cx="5500000" cy="22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1700" b="1" dirty="0">
                <a:solidFill>
                  <a:srgbClr val="B7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  Failure Recovery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failure: w(u,v) ← ∞; edge removed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failure: all incident edge costs set to ∞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 re-runs; healed path reported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Partition alert raised if no valid path exists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Bar"/>
          <p:cNvSpPr txBox="1">
            <a:spLocks noChangeArrowheads="1"/>
          </p:cNvSpPr>
          <p:nvPr/>
        </p:nvSpPr>
        <p:spPr bwMode="auto">
          <a:xfrm>
            <a:off x="0" y="6486754"/>
            <a:ext cx="12192000" cy="371513"/>
          </a:xfrm>
          <a:prstGeom prst="rect">
            <a:avLst/>
          </a:prstGeom>
          <a:solidFill>
            <a:srgbClr val="E46C0A"/>
          </a:solidFill>
        </p:spPr>
        <p:txBody>
          <a:bodyPr wrap="square" lIns="90000" tIns="46800" rIns="90000" bIns="46800">
            <a:spAutoFit/>
          </a:bodyPr>
          <a:lstStyle/>
          <a:p>
            <a:pPr algn="ctr">
              <a:spcBef>
                <a:spcPts val="1125"/>
              </a:spcBef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Sudeep Sharma, Prakhar Singh 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 No. 230907340 &amp; 230907450, ECE, MIT.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16832" y="6570513"/>
            <a:ext cx="914400" cy="203994"/>
          </a:xfrm>
        </p:spPr>
        <p:txBody>
          <a:bodyPr/>
          <a:lstStyle/>
          <a:p>
            <a:fld id="{D1D7ACCA-8485-4958-B811-C4240EBF000A}" type="datetime5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24-Mar-26</a:t>
            </a:fld>
            <a:endParaRPr lang="en-US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131968" y="6434716"/>
            <a:ext cx="2743200" cy="365125"/>
          </a:xfrm>
        </p:spPr>
        <p:txBody>
          <a:bodyPr/>
          <a:lstStyle/>
          <a:p>
            <a:fld id="{49C05B83-7B02-450B-B7D4-1E54CDF37B95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1" y="791817"/>
            <a:ext cx="12191999" cy="11668"/>
          </a:xfrm>
          <a:prstGeom prst="line">
            <a:avLst/>
          </a:prstGeom>
          <a:noFill/>
          <a:ln w="31680">
            <a:solidFill>
              <a:srgbClr val="E46C0A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201" y="126629"/>
            <a:ext cx="584799" cy="608191"/>
          </a:xfrm>
          <a:prstGeom prst="rect">
            <a:avLst/>
          </a:prstGeom>
        </p:spPr>
      </p:pic>
      <p:sp>
        <p:nvSpPr>
          <p:cNvPr id="22" name="HdrTitle"/>
          <p:cNvSpPr txBox="1"/>
          <p:nvPr/>
        </p:nvSpPr>
        <p:spPr>
          <a:xfrm>
            <a:off x="4178507" y="249488"/>
            <a:ext cx="403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COMMUNICATION NETWORKS LAB</a:t>
            </a:r>
          </a:p>
        </p:txBody>
      </p:sp>
      <p:sp>
        <p:nvSpPr>
          <p:cNvPr id="99" name="tb"/>
          <p:cNvSpPr txBox="1">
            <a:spLocks noChangeArrowheads="1"/>
          </p:cNvSpPr>
          <p:nvPr/>
        </p:nvSpPr>
        <p:spPr bwMode="auto">
          <a:xfrm>
            <a:off x="400000" y="900000"/>
            <a:ext cx="11000000" cy="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lnSpcReduction="10000"/>
          </a:bodyPr>
          <a:lstStyle/>
          <a:p>
            <a:pPr algn="l">
              <a:spcBef>
                <a:spcPts val="200"/>
              </a:spcBef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 Engine — Priority-Queue Dijkstra</a:t>
            </a:r>
          </a:p>
        </p:txBody>
      </p:sp>
      <p:sp>
        <p:nvSpPr>
          <p:cNvPr id="98" name="fbox"/>
          <p:cNvSpPr txBox="1"/>
          <p:nvPr/>
        </p:nvSpPr>
        <p:spPr>
          <a:xfrm>
            <a:off x="400000" y="1500000"/>
            <a:ext cx="6400000" cy="4800000"/>
          </a:xfrm>
          <a:prstGeom prst="rect">
            <a:avLst/>
          </a:prstGeom>
          <a:solidFill>
            <a:srgbClr val="1A1A2E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8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  adjMatrix, startNode s, endNode t</a:t>
            </a:r>
          </a:p>
          <a:p>
            <a:pPr algn="l">
              <a:spcBef>
                <a:spcPts val="8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 optimalPath P*, totalCost C*</a:t>
            </a:r>
          </a:p>
          <a:p>
            <a:pPr algn="l">
              <a:spcBef>
                <a:spcPts val="8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>
              <a:spcBef>
                <a:spcPts val="8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distances[v] ← ∞ for all v;  distances[s] ← 0</a:t>
            </a:r>
          </a:p>
          <a:p>
            <a:pPr algn="l">
              <a:spcBef>
                <a:spcPts val="8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pq ← { (0, s) }   // priority queue</a:t>
            </a:r>
          </a:p>
          <a:p>
            <a:pPr algn="l">
              <a:spcBef>
                <a:spcPts val="8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>
              <a:spcBef>
                <a:spcPts val="8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pq is not empty:</a:t>
            </a:r>
          </a:p>
          <a:p>
            <a:pPr algn="l">
              <a:spcBef>
                <a:spcPts val="8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sort pq by cost (ascending)</a:t>
            </a:r>
          </a:p>
          <a:p>
            <a:pPr algn="l">
              <a:spcBef>
                <a:spcPts val="8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extract front (currentDist, u)</a:t>
            </a:r>
          </a:p>
          <a:p>
            <a:pPr algn="l">
              <a:spcBef>
                <a:spcPts val="8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IF currentDist &gt; distances[u] → SKIP  // stale</a:t>
            </a:r>
          </a:p>
          <a:p>
            <a:pPr algn="l">
              <a:spcBef>
                <a:spcPts val="8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IF u == t → BREAK  // destination reached</a:t>
            </a:r>
          </a:p>
          <a:p>
            <a:pPr algn="l">
              <a:spcBef>
                <a:spcPts val="8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FOR each neighbor v:</a:t>
            </a:r>
          </a:p>
          <a:p>
            <a:pPr algn="l">
              <a:spcBef>
                <a:spcPts val="8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alt ← distances[u] + w(u,v)</a:t>
            </a:r>
          </a:p>
          <a:p>
            <a:pPr algn="l">
              <a:spcBef>
                <a:spcPts val="8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 alt &lt; distances[v]:</a:t>
            </a:r>
          </a:p>
          <a:p>
            <a:pPr algn="l">
              <a:spcBef>
                <a:spcPts val="8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distances[v] ← alt;  push (alt,v) to pq</a:t>
            </a:r>
          </a:p>
          <a:p>
            <a:pPr algn="l">
              <a:spcBef>
                <a:spcPts val="8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>
              <a:spcBef>
                <a:spcPts val="8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RECONSTRUCT via backtracking through previous[]</a:t>
            </a:r>
          </a:p>
          <a:p>
            <a:pPr algn="l">
              <a:spcBef>
                <a:spcPts val="8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P*, C*</a:t>
            </a:r>
          </a:p>
        </p:txBody>
      </p:sp>
      <p:sp>
        <p:nvSpPr>
          <p:cNvPr id="7" name="tb"/>
          <p:cNvSpPr txBox="1">
            <a:spLocks noChangeArrowheads="1"/>
          </p:cNvSpPr>
          <p:nvPr/>
        </p:nvSpPr>
        <p:spPr bwMode="auto">
          <a:xfrm>
            <a:off x="7000000" y="1500000"/>
            <a:ext cx="4800000" cy="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200"/>
              </a:spcBef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Optimizations</a:t>
            </a:r>
          </a:p>
        </p:txBody>
      </p:sp>
      <p:sp>
        <p:nvSpPr>
          <p:cNvPr id="8" name="fbox"/>
          <p:cNvSpPr txBox="1"/>
          <p:nvPr/>
        </p:nvSpPr>
        <p:spPr>
          <a:xfrm>
            <a:off x="7000000" y="2100000"/>
            <a:ext cx="4800000" cy="10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50"/>
              </a:spcBef>
            </a:pPr>
            <a:r>
              <a:rPr lang="en-US" sz="1500" b="1" dirty="0">
                <a:solidFill>
                  <a:srgbClr val="E46C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</a:t>
            </a:r>
          </a:p>
          <a:p>
            <a:pPr algn="l">
              <a:spcBef>
                <a:spcPts val="10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Sorted matrix via sortrows; O(k log k) per iteration</a:t>
            </a:r>
          </a:p>
        </p:txBody>
      </p:sp>
      <p:sp>
        <p:nvSpPr>
          <p:cNvPr id="9" name="fbox"/>
          <p:cNvSpPr txBox="1"/>
          <p:nvPr/>
        </p:nvSpPr>
        <p:spPr>
          <a:xfrm>
            <a:off x="7000000" y="3250000"/>
            <a:ext cx="4800000" cy="10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50"/>
              </a:spcBef>
            </a:pPr>
            <a:r>
              <a:rPr lang="en-US" sz="1500" b="1" dirty="0">
                <a:solidFill>
                  <a:srgbClr val="E46C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Stale Entry Discard</a:t>
            </a:r>
          </a:p>
          <a:p>
            <a:pPr algn="l">
              <a:spcBef>
                <a:spcPts val="10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Outdated entries skipped without reprocessing — preserves correctness</a:t>
            </a:r>
          </a:p>
        </p:txBody>
      </p:sp>
      <p:sp>
        <p:nvSpPr>
          <p:cNvPr id="10" name="fbox"/>
          <p:cNvSpPr txBox="1"/>
          <p:nvPr/>
        </p:nvSpPr>
        <p:spPr>
          <a:xfrm>
            <a:off x="7000000" y="4400000"/>
            <a:ext cx="4800000" cy="10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50"/>
              </a:spcBef>
            </a:pPr>
            <a:r>
              <a:rPr lang="en-US" sz="1500" b="1" dirty="0">
                <a:solidFill>
                  <a:srgbClr val="E46C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Early Termination</a:t>
            </a:r>
          </a:p>
          <a:p>
            <a:pPr algn="l">
              <a:spcBef>
                <a:spcPts val="10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 breaks upon reaching destination node t</a:t>
            </a:r>
          </a:p>
        </p:txBody>
      </p:sp>
      <p:sp>
        <p:nvSpPr>
          <p:cNvPr id="11" name="fbox"/>
          <p:cNvSpPr txBox="1"/>
          <p:nvPr/>
        </p:nvSpPr>
        <p:spPr>
          <a:xfrm>
            <a:off x="7000000" y="5550000"/>
            <a:ext cx="4800000" cy="10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50"/>
              </a:spcBef>
            </a:pPr>
            <a:r>
              <a:rPr lang="en-US" sz="1500" b="1" dirty="0">
                <a:solidFill>
                  <a:srgbClr val="E46C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</a:p>
          <a:p>
            <a:pPr algn="l">
              <a:spcBef>
                <a:spcPts val="10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O((V+E) log V) — efficient for 10–25 node networks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Bar"/>
          <p:cNvSpPr txBox="1">
            <a:spLocks noChangeArrowheads="1"/>
          </p:cNvSpPr>
          <p:nvPr/>
        </p:nvSpPr>
        <p:spPr bwMode="auto">
          <a:xfrm>
            <a:off x="0" y="6486754"/>
            <a:ext cx="12192000" cy="371513"/>
          </a:xfrm>
          <a:prstGeom prst="rect">
            <a:avLst/>
          </a:prstGeom>
          <a:solidFill>
            <a:srgbClr val="E46C0A"/>
          </a:solidFill>
        </p:spPr>
        <p:txBody>
          <a:bodyPr wrap="square" lIns="90000" tIns="46800" rIns="90000" bIns="46800">
            <a:spAutoFit/>
          </a:bodyPr>
          <a:lstStyle/>
          <a:p>
            <a:pPr algn="ctr">
              <a:spcBef>
                <a:spcPts val="1125"/>
              </a:spcBef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Sudeep Sharma, Prakhar Singh 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 No. 230907340 &amp; 230907450, ECE, MIT.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16832" y="6570513"/>
            <a:ext cx="914400" cy="203994"/>
          </a:xfrm>
        </p:spPr>
        <p:txBody>
          <a:bodyPr/>
          <a:lstStyle/>
          <a:p>
            <a:fld id="{D1D7ACCA-8485-4958-B811-C4240EBF000A}" type="datetime5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24-Mar-26</a:t>
            </a:fld>
            <a:endParaRPr lang="en-US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131968" y="6434716"/>
            <a:ext cx="2743200" cy="365125"/>
          </a:xfrm>
        </p:spPr>
        <p:txBody>
          <a:bodyPr/>
          <a:lstStyle/>
          <a:p>
            <a:fld id="{49C05B83-7B02-450B-B7D4-1E54CDF37B95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1" y="791817"/>
            <a:ext cx="12191999" cy="11668"/>
          </a:xfrm>
          <a:prstGeom prst="line">
            <a:avLst/>
          </a:prstGeom>
          <a:noFill/>
          <a:ln w="31680">
            <a:solidFill>
              <a:srgbClr val="E46C0A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201" y="126629"/>
            <a:ext cx="584799" cy="608191"/>
          </a:xfrm>
          <a:prstGeom prst="rect">
            <a:avLst/>
          </a:prstGeom>
        </p:spPr>
      </p:pic>
      <p:sp>
        <p:nvSpPr>
          <p:cNvPr id="22" name="HdrTitle"/>
          <p:cNvSpPr txBox="1"/>
          <p:nvPr/>
        </p:nvSpPr>
        <p:spPr>
          <a:xfrm>
            <a:off x="4178507" y="249488"/>
            <a:ext cx="403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COMMUNICATION NETWORKS LAB</a:t>
            </a:r>
          </a:p>
        </p:txBody>
      </p:sp>
      <p:sp>
        <p:nvSpPr>
          <p:cNvPr id="99" name="tb"/>
          <p:cNvSpPr txBox="1">
            <a:spLocks noChangeArrowheads="1"/>
          </p:cNvSpPr>
          <p:nvPr/>
        </p:nvSpPr>
        <p:spPr bwMode="auto">
          <a:xfrm>
            <a:off x="400000" y="900000"/>
            <a:ext cx="11000000" cy="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lnSpcReduction="10000"/>
          </a:bodyPr>
          <a:lstStyle/>
          <a:p>
            <a:pPr algn="l">
              <a:spcBef>
                <a:spcPts val="200"/>
              </a:spcBef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Network Behavior</a:t>
            </a:r>
          </a:p>
        </p:txBody>
      </p:sp>
      <p:sp>
        <p:nvSpPr>
          <p:cNvPr id="98" name="fbox"/>
          <p:cNvSpPr txBox="1"/>
          <p:nvPr/>
        </p:nvSpPr>
        <p:spPr>
          <a:xfrm>
            <a:off x="400000" y="1500000"/>
            <a:ext cx="5500000" cy="22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1700" b="1" dirty="0">
                <a:solidFill>
                  <a:srgbClr val="E46C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Congestion Handling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injects high cost on target link (e.g., 10 → 200)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matrix updated; routing engine re-triggered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Alternate lower-cost path selected automatically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Longer geometrically but cheaper — cost-aware routing</a:t>
            </a:r>
          </a:p>
        </p:txBody>
      </p:sp>
      <p:sp>
        <p:nvSpPr>
          <p:cNvPr id="7" name="fbox"/>
          <p:cNvSpPr txBox="1"/>
          <p:nvPr/>
        </p:nvSpPr>
        <p:spPr>
          <a:xfrm>
            <a:off x="6200000" y="1500000"/>
            <a:ext cx="5500000" cy="22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1700" b="1" dirty="0">
                <a:solidFill>
                  <a:srgbClr val="1565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Failure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w(u,v) ← ∞ — link removed from active graph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 re-executes; valid alternate route found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connectivity maintained autonomously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administrator input required</a:t>
            </a:r>
          </a:p>
        </p:txBody>
      </p:sp>
      <p:sp>
        <p:nvSpPr>
          <p:cNvPr id="8" name="fbox"/>
          <p:cNvSpPr txBox="1"/>
          <p:nvPr/>
        </p:nvSpPr>
        <p:spPr>
          <a:xfrm>
            <a:off x="400000" y="4000000"/>
            <a:ext cx="5500000" cy="22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1700" b="1" dirty="0">
                <a:solidFill>
                  <a:srgbClr val="B7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Failure (Router Crash)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cost matrix entries for failed node set to ∞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rendered with dashed former connections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 computes bypass through surviving topology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Convergence time reported via tic/toc</a:t>
            </a:r>
          </a:p>
        </p:txBody>
      </p:sp>
      <p:sp>
        <p:nvSpPr>
          <p:cNvPr id="9" name="fbox"/>
          <p:cNvSpPr txBox="1"/>
          <p:nvPr/>
        </p:nvSpPr>
        <p:spPr>
          <a:xfrm>
            <a:off x="6200000" y="4000000"/>
            <a:ext cx="5500000" cy="22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1700" b="1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Self-Healing Sequence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 Detect: state change in cost matrix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 Update: affected entries set to ∞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③ Recompute: Dijkstra re-executed from source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④ Recover: new path reported OR partition alert raised</a:t>
            </a:r>
          </a:p>
        </p:txBody>
      </p:sp>
      <p:sp>
        <p:nvSpPr>
          <p:cNvPr id="10" name="tb"/>
          <p:cNvSpPr txBox="1">
            <a:spLocks noChangeArrowheads="1"/>
          </p:cNvSpPr>
          <p:nvPr/>
        </p:nvSpPr>
        <p:spPr bwMode="auto">
          <a:xfrm>
            <a:off x="400000" y="6300000"/>
            <a:ext cx="11400000" cy="2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70000" lnSpcReduction="20000"/>
          </a:bodyPr>
          <a:lstStyle/>
          <a:p>
            <a:pPr algn="ctr">
              <a:spcBef>
                <a:spcPts val="200"/>
              </a:spcBef>
            </a:pPr>
            <a:r>
              <a:rPr lang="en-US" sz="1200" i="1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 Green = Optimal/Healed Path     Red/Dashed = Failed Link or Crashed Node     Blue = Active Links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Bar"/>
          <p:cNvSpPr txBox="1">
            <a:spLocks noChangeArrowheads="1"/>
          </p:cNvSpPr>
          <p:nvPr/>
        </p:nvSpPr>
        <p:spPr bwMode="auto">
          <a:xfrm>
            <a:off x="0" y="6486754"/>
            <a:ext cx="12192000" cy="371513"/>
          </a:xfrm>
          <a:prstGeom prst="rect">
            <a:avLst/>
          </a:prstGeom>
          <a:solidFill>
            <a:srgbClr val="E46C0A"/>
          </a:solidFill>
        </p:spPr>
        <p:txBody>
          <a:bodyPr wrap="square" lIns="90000" tIns="46800" rIns="90000" bIns="46800">
            <a:spAutoFit/>
          </a:bodyPr>
          <a:lstStyle/>
          <a:p>
            <a:pPr algn="ctr">
              <a:spcBef>
                <a:spcPts val="1125"/>
              </a:spcBef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Sudeep Sharma, Prakhar Singh 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 No. 230907340 &amp; 230907450, ECE, MIT.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16832" y="6570513"/>
            <a:ext cx="914400" cy="203994"/>
          </a:xfrm>
        </p:spPr>
        <p:txBody>
          <a:bodyPr/>
          <a:lstStyle/>
          <a:p>
            <a:fld id="{D1D7ACCA-8485-4958-B811-C4240EBF000A}" type="datetime5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24-Mar-26</a:t>
            </a:fld>
            <a:endParaRPr lang="en-US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131968" y="6434716"/>
            <a:ext cx="2743200" cy="365125"/>
          </a:xfrm>
        </p:spPr>
        <p:txBody>
          <a:bodyPr/>
          <a:lstStyle/>
          <a:p>
            <a:fld id="{49C05B83-7B02-450B-B7D4-1E54CDF37B95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1" y="791817"/>
            <a:ext cx="12191999" cy="11668"/>
          </a:xfrm>
          <a:prstGeom prst="line">
            <a:avLst/>
          </a:prstGeom>
          <a:noFill/>
          <a:ln w="31680">
            <a:solidFill>
              <a:srgbClr val="E46C0A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201" y="126629"/>
            <a:ext cx="584799" cy="608191"/>
          </a:xfrm>
          <a:prstGeom prst="rect">
            <a:avLst/>
          </a:prstGeom>
        </p:spPr>
      </p:pic>
      <p:sp>
        <p:nvSpPr>
          <p:cNvPr id="22" name="HdrTitle"/>
          <p:cNvSpPr txBox="1"/>
          <p:nvPr/>
        </p:nvSpPr>
        <p:spPr>
          <a:xfrm>
            <a:off x="4178507" y="249488"/>
            <a:ext cx="403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COMMUNICATION NETWORKS LAB</a:t>
            </a:r>
          </a:p>
        </p:txBody>
      </p:sp>
      <p:sp>
        <p:nvSpPr>
          <p:cNvPr id="99" name="tb"/>
          <p:cNvSpPr txBox="1">
            <a:spLocks noChangeArrowheads="1"/>
          </p:cNvSpPr>
          <p:nvPr/>
        </p:nvSpPr>
        <p:spPr bwMode="auto">
          <a:xfrm>
            <a:off x="400000" y="900000"/>
            <a:ext cx="11000000" cy="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lnSpcReduction="10000"/>
          </a:bodyPr>
          <a:lstStyle/>
          <a:p>
            <a:pPr algn="l">
              <a:spcBef>
                <a:spcPts val="200"/>
              </a:spcBef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MATLAB Implementation</a:t>
            </a:r>
          </a:p>
        </p:txBody>
      </p:sp>
      <p:sp>
        <p:nvSpPr>
          <p:cNvPr id="98" name="fbox"/>
          <p:cNvSpPr txBox="1"/>
          <p:nvPr/>
        </p:nvSpPr>
        <p:spPr>
          <a:xfrm>
            <a:off x="400000" y="1500000"/>
            <a:ext cx="6400000" cy="4800000"/>
          </a:xfrm>
          <a:prstGeom prst="rect">
            <a:avLst/>
          </a:prstGeom>
          <a:solidFill>
            <a:srgbClr val="1A1A2E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6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Node Failure — Remove all edges</a:t>
            </a:r>
          </a:p>
          <a:p>
            <a:pPr algn="l">
              <a:spcBef>
                <a:spcPts val="6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costMatrix(fNode, :) = inf;</a:t>
            </a:r>
          </a:p>
          <a:p>
            <a:pPr algn="l">
              <a:spcBef>
                <a:spcPts val="6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costMatrix(:, fNode) = inf;</a:t>
            </a:r>
          </a:p>
          <a:p>
            <a:pPr algn="l">
              <a:spcBef>
                <a:spcPts val="6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>
              <a:spcBef>
                <a:spcPts val="6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Self-Healing — Trigger &amp; time</a:t>
            </a:r>
          </a:p>
          <a:p>
            <a:pPr algn="l">
              <a:spcBef>
                <a:spcPts val="6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tic;</a:t>
            </a:r>
          </a:p>
          <a:p>
            <a:pPr algn="l">
              <a:spcBef>
                <a:spcPts val="6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[newPath, newCost] = customDijkstraPQ(...);</a:t>
            </a:r>
          </a:p>
          <a:p>
            <a:pPr algn="l">
              <a:spcBef>
                <a:spcPts val="6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convTime = toc * 1000;</a:t>
            </a:r>
          </a:p>
          <a:p>
            <a:pPr algn="l">
              <a:spcBef>
                <a:spcPts val="6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>
              <a:spcBef>
                <a:spcPts val="6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Bottleneck BW Extraction</a:t>
            </a:r>
          </a:p>
          <a:p>
            <a:pPr algn="l">
              <a:spcBef>
                <a:spcPts val="6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pathBWs = arrayfun(@(i) bwMatrix(</a:t>
            </a:r>
          </a:p>
          <a:p>
            <a:pPr algn="l">
              <a:spcBef>
                <a:spcPts val="6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newPath(i), newPath(i+1)),</a:t>
            </a:r>
          </a:p>
          <a:p>
            <a:pPr algn="l">
              <a:spcBef>
                <a:spcPts val="6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1:length(newPath)-1);</a:t>
            </a:r>
          </a:p>
          <a:p>
            <a:pPr algn="l">
              <a:spcBef>
                <a:spcPts val="60"/>
              </a:spcBef>
            </a:pPr>
            <a:r>
              <a:rPr lang="en-US" sz="1200" dirty="0">
                <a:solidFill>
                  <a:srgbClr val="E8F5E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min(pathBWs)</a:t>
            </a:r>
          </a:p>
        </p:txBody>
      </p:sp>
      <p:sp>
        <p:nvSpPr>
          <p:cNvPr id="7" name="fbox"/>
          <p:cNvSpPr txBox="1"/>
          <p:nvPr/>
        </p:nvSpPr>
        <p:spPr>
          <a:xfrm>
            <a:off x="7000000" y="1500000"/>
            <a:ext cx="4800000" cy="50000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100"/>
              </a:spcBef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Structure</a:t>
            </a:r>
          </a:p>
        </p:txBody>
      </p:sp>
      <p:sp>
        <p:nvSpPr>
          <p:cNvPr id="8" name="fbox"/>
          <p:cNvSpPr txBox="1"/>
          <p:nvPr/>
        </p:nvSpPr>
        <p:spPr>
          <a:xfrm>
            <a:off x="7000000" y="2100000"/>
            <a:ext cx="4800000" cy="15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50"/>
              </a:spcBef>
            </a:pPr>
            <a:r>
              <a:rPr lang="en-US" sz="1500" b="1" dirty="0">
                <a:solidFill>
                  <a:srgbClr val="E46C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customDijkstraPQ.m</a:t>
            </a:r>
          </a:p>
          <a:p>
            <a:pPr algn="l">
              <a:spcBef>
                <a:spcPts val="100"/>
              </a:spcBef>
            </a:pPr>
            <a:r>
              <a:rPr lang="en-US" sz="1400" b="1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Routing Engine</a:t>
            </a:r>
          </a:p>
          <a:p>
            <a:pPr algn="l">
              <a:spcBef>
                <a:spcPts val="8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Priority-queue Dijkstra; path reconstruction; inf sentinel for failed/absent links</a:t>
            </a:r>
          </a:p>
        </p:txBody>
      </p:sp>
      <p:sp>
        <p:nvSpPr>
          <p:cNvPr id="9" name="fbox"/>
          <p:cNvSpPr txBox="1"/>
          <p:nvPr/>
        </p:nvSpPr>
        <p:spPr>
          <a:xfrm>
            <a:off x="7000000" y="3750000"/>
            <a:ext cx="4800000" cy="20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50"/>
              </a:spcBef>
            </a:pPr>
            <a:r>
              <a:rPr lang="en-US" sz="1500" b="1" dirty="0">
                <a:solidFill>
                  <a:srgbClr val="E46C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DijkstraSimMain.m</a:t>
            </a:r>
          </a:p>
          <a:p>
            <a:pPr algn="l">
              <a:spcBef>
                <a:spcPts val="100"/>
              </a:spcBef>
            </a:pPr>
            <a:r>
              <a:rPr lang="en-US" sz="1400" b="1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Driver</a:t>
            </a:r>
          </a:p>
          <a:p>
            <a:pPr algn="l">
              <a:spcBef>
                <a:spcPts val="80"/>
              </a:spcBef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Topology generation; interactive 5-option menu; self-healing trigger loop; visualization</a:t>
            </a:r>
          </a:p>
          <a:p>
            <a:pPr algn="l">
              <a:spcBef>
                <a:spcPts val="150"/>
              </a:spcBef>
            </a:pPr>
            <a:r>
              <a:rPr lang="en-US" sz="1200" i="1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Menu: 0=Exit  1=Congestion  2=Link Fail  3=Src-Dst  4=Node Fail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Bar"/>
          <p:cNvSpPr txBox="1">
            <a:spLocks noChangeArrowheads="1"/>
          </p:cNvSpPr>
          <p:nvPr/>
        </p:nvSpPr>
        <p:spPr bwMode="auto">
          <a:xfrm>
            <a:off x="0" y="6486754"/>
            <a:ext cx="12192000" cy="371513"/>
          </a:xfrm>
          <a:prstGeom prst="rect">
            <a:avLst/>
          </a:prstGeom>
          <a:solidFill>
            <a:srgbClr val="E46C0A"/>
          </a:solidFill>
        </p:spPr>
        <p:txBody>
          <a:bodyPr wrap="square" lIns="90000" tIns="46800" rIns="90000" bIns="46800">
            <a:spAutoFit/>
          </a:bodyPr>
          <a:lstStyle/>
          <a:p>
            <a:pPr algn="ctr">
              <a:spcBef>
                <a:spcPts val="1125"/>
              </a:spcBef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Sudeep Sharma, Prakhar Singh 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 No. 230907340 &amp; 230907450, ECE, MIT.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16832" y="6570513"/>
            <a:ext cx="914400" cy="203994"/>
          </a:xfrm>
        </p:spPr>
        <p:txBody>
          <a:bodyPr/>
          <a:lstStyle/>
          <a:p>
            <a:fld id="{D1D7ACCA-8485-4958-B811-C4240EBF000A}" type="datetime5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24-Mar-26</a:t>
            </a:fld>
            <a:endParaRPr lang="en-US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131968" y="6434716"/>
            <a:ext cx="2743200" cy="365125"/>
          </a:xfrm>
        </p:spPr>
        <p:txBody>
          <a:bodyPr/>
          <a:lstStyle/>
          <a:p>
            <a:fld id="{49C05B83-7B02-450B-B7D4-1E54CDF37B95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1" y="791817"/>
            <a:ext cx="12191999" cy="11668"/>
          </a:xfrm>
          <a:prstGeom prst="line">
            <a:avLst/>
          </a:prstGeom>
          <a:noFill/>
          <a:ln w="31680">
            <a:solidFill>
              <a:srgbClr val="E46C0A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201" y="126629"/>
            <a:ext cx="584799" cy="608191"/>
          </a:xfrm>
          <a:prstGeom prst="rect">
            <a:avLst/>
          </a:prstGeom>
        </p:spPr>
      </p:pic>
      <p:sp>
        <p:nvSpPr>
          <p:cNvPr id="22" name="HdrTitle"/>
          <p:cNvSpPr txBox="1"/>
          <p:nvPr/>
        </p:nvSpPr>
        <p:spPr>
          <a:xfrm>
            <a:off x="4178507" y="249488"/>
            <a:ext cx="403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COMMUNICATION NETWORKS LAB</a:t>
            </a:r>
          </a:p>
        </p:txBody>
      </p:sp>
      <p:sp>
        <p:nvSpPr>
          <p:cNvPr id="99" name="tb"/>
          <p:cNvSpPr txBox="1">
            <a:spLocks noChangeArrowheads="1"/>
          </p:cNvSpPr>
          <p:nvPr/>
        </p:nvSpPr>
        <p:spPr bwMode="auto">
          <a:xfrm>
            <a:off x="400000" y="900000"/>
            <a:ext cx="11000000" cy="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lnSpcReduction="10000"/>
          </a:bodyPr>
          <a:lstStyle/>
          <a:p>
            <a:pPr algn="l">
              <a:spcBef>
                <a:spcPts val="200"/>
              </a:spcBef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— Shortest Path Computation (R1 → R8)</a:t>
            </a:r>
          </a:p>
        </p:txBody>
      </p:sp>
      <p:sp>
        <p:nvSpPr>
          <p:cNvPr id="98" name="fbox"/>
          <p:cNvSpPr txBox="1"/>
          <p:nvPr/>
        </p:nvSpPr>
        <p:spPr>
          <a:xfrm>
            <a:off x="400000" y="1500000"/>
            <a:ext cx="4200000" cy="47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100"/>
              </a:spcBef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 Routing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10-node randomly generated topology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Spanning tree + 30% mesh cross-links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Minimum cumulative-cost path computed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Globally optimal under baseline conditions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Green-highlighted path on MATLAB visualization</a:t>
            </a:r>
          </a:p>
          <a:p>
            <a:pPr marL="457143" indent="-457143">
              <a:spcBef>
                <a:spcPts val="200"/>
              </a:spcBef>
              <a:buChar char="•"/>
            </a:pPr>
            <a:r>
              <a:rPr lang="en-US" sz="13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congestion or failure active</a:t>
            </a:r>
          </a:p>
        </p:txBody>
      </p:sp>
      <p:pic>
        <p:nvPicPr>
          <p:cNvPr id="97" name="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000" y="1400000"/>
            <a:ext cx="7000000" cy="4800000"/>
          </a:xfrm>
          <a:prstGeom prst="rect">
            <a:avLst/>
          </a:prstGeom>
        </p:spPr>
      </p:pic>
      <p:sp>
        <p:nvSpPr>
          <p:cNvPr id="7" name="tb"/>
          <p:cNvSpPr txBox="1">
            <a:spLocks noChangeArrowheads="1"/>
          </p:cNvSpPr>
          <p:nvPr/>
        </p:nvSpPr>
        <p:spPr bwMode="auto">
          <a:xfrm>
            <a:off x="400000" y="6300000"/>
            <a:ext cx="11400000" cy="2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fontScale="70000" lnSpcReduction="20000"/>
          </a:bodyPr>
          <a:lstStyle/>
          <a:p>
            <a:pPr algn="ctr">
              <a:spcBef>
                <a:spcPts val="200"/>
              </a:spcBef>
            </a:pPr>
            <a:r>
              <a:rPr lang="en-US" sz="1200" i="1" dirty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Tested with networks of 10, 15, 20, and 25 nodes.  All convergence times &lt; 1 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Bar"/>
          <p:cNvSpPr txBox="1">
            <a:spLocks noChangeArrowheads="1"/>
          </p:cNvSpPr>
          <p:nvPr/>
        </p:nvSpPr>
        <p:spPr bwMode="auto">
          <a:xfrm>
            <a:off x="0" y="6486754"/>
            <a:ext cx="12192000" cy="371513"/>
          </a:xfrm>
          <a:prstGeom prst="rect">
            <a:avLst/>
          </a:prstGeom>
          <a:solidFill>
            <a:srgbClr val="E46C0A"/>
          </a:solidFill>
        </p:spPr>
        <p:txBody>
          <a:bodyPr wrap="square" lIns="90000" tIns="46800" rIns="90000" bIns="46800">
            <a:spAutoFit/>
          </a:bodyPr>
          <a:lstStyle/>
          <a:p>
            <a:pPr algn="ctr">
              <a:spcBef>
                <a:spcPts val="1125"/>
              </a:spcBef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Sudeep Sharma, Prakhar Singh 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 No. 230907340 &amp; 230907450, ECE, MIT.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16832" y="6570513"/>
            <a:ext cx="914400" cy="203994"/>
          </a:xfrm>
        </p:spPr>
        <p:txBody>
          <a:bodyPr/>
          <a:lstStyle/>
          <a:p>
            <a:fld id="{D1D7ACCA-8485-4958-B811-C4240EBF000A}" type="datetime5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24-Mar-26</a:t>
            </a:fld>
            <a:endParaRPr lang="en-US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131968" y="6434716"/>
            <a:ext cx="2743200" cy="365125"/>
          </a:xfrm>
        </p:spPr>
        <p:txBody>
          <a:bodyPr/>
          <a:lstStyle/>
          <a:p>
            <a:fld id="{49C05B83-7B02-450B-B7D4-1E54CDF37B95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IN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1" y="791817"/>
            <a:ext cx="12191999" cy="11668"/>
          </a:xfrm>
          <a:prstGeom prst="line">
            <a:avLst/>
          </a:prstGeom>
          <a:noFill/>
          <a:ln w="31680">
            <a:solidFill>
              <a:srgbClr val="E46C0A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201" y="126629"/>
            <a:ext cx="584799" cy="608191"/>
          </a:xfrm>
          <a:prstGeom prst="rect">
            <a:avLst/>
          </a:prstGeom>
        </p:spPr>
      </p:pic>
      <p:sp>
        <p:nvSpPr>
          <p:cNvPr id="22" name="HdrTitle"/>
          <p:cNvSpPr txBox="1"/>
          <p:nvPr/>
        </p:nvSpPr>
        <p:spPr>
          <a:xfrm>
            <a:off x="4178507" y="249488"/>
            <a:ext cx="403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COMMUNICATION NETWORKS LAB</a:t>
            </a:r>
          </a:p>
        </p:txBody>
      </p:sp>
      <p:sp>
        <p:nvSpPr>
          <p:cNvPr id="99" name="tb"/>
          <p:cNvSpPr txBox="1">
            <a:spLocks noChangeArrowheads="1"/>
          </p:cNvSpPr>
          <p:nvPr/>
        </p:nvSpPr>
        <p:spPr bwMode="auto">
          <a:xfrm>
            <a:off x="400000" y="900000"/>
            <a:ext cx="11000000" cy="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lnSpcReduction="10000"/>
          </a:bodyPr>
          <a:lstStyle/>
          <a:p>
            <a:pPr algn="l">
              <a:spcBef>
                <a:spcPts val="200"/>
              </a:spcBef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Scenario Analysis</a:t>
            </a:r>
          </a:p>
        </p:txBody>
      </p:sp>
      <p:sp>
        <p:nvSpPr>
          <p:cNvPr id="7" name="tb"/>
          <p:cNvSpPr txBox="1">
            <a:spLocks noChangeArrowheads="1"/>
          </p:cNvSpPr>
          <p:nvPr/>
        </p:nvSpPr>
        <p:spPr bwMode="auto">
          <a:xfrm>
            <a:off x="400000" y="1450000"/>
            <a:ext cx="360000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ctr">
              <a:spcBef>
                <a:spcPts val="200"/>
              </a:spcBef>
            </a:pPr>
            <a:r>
              <a:rPr lang="en-US" sz="1600" b="1" dirty="0">
                <a:solidFill>
                  <a:srgbClr val="E46C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Congestion — R3–R5</a:t>
            </a:r>
          </a:p>
        </p:txBody>
      </p:sp>
      <p:pic>
        <p:nvPicPr>
          <p:cNvPr id="97" name="im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00" y="1900000"/>
            <a:ext cx="3600000" cy="2700000"/>
          </a:xfrm>
          <a:prstGeom prst="rect">
            <a:avLst/>
          </a:prstGeom>
        </p:spPr>
      </p:pic>
      <p:sp>
        <p:nvSpPr>
          <p:cNvPr id="98" name="fbox"/>
          <p:cNvSpPr txBox="1"/>
          <p:nvPr/>
        </p:nvSpPr>
        <p:spPr>
          <a:xfrm>
            <a:off x="400000" y="4700000"/>
            <a:ext cx="3600000" cy="14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 raised 12 → 200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 re-converges; detour selected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Geometrically longer, lower total cost</a:t>
            </a:r>
          </a:p>
        </p:txBody>
      </p:sp>
      <p:sp>
        <p:nvSpPr>
          <p:cNvPr id="8" name="tb"/>
          <p:cNvSpPr txBox="1">
            <a:spLocks noChangeArrowheads="1"/>
          </p:cNvSpPr>
          <p:nvPr/>
        </p:nvSpPr>
        <p:spPr bwMode="auto">
          <a:xfrm>
            <a:off x="4300000" y="1450000"/>
            <a:ext cx="360000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ctr">
              <a:spcBef>
                <a:spcPts val="200"/>
              </a:spcBef>
            </a:pPr>
            <a:r>
              <a:rPr lang="en-US" sz="1600" b="1" dirty="0">
                <a:solidFill>
                  <a:srgbClr val="1565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Failure — R2–R6</a:t>
            </a:r>
          </a:p>
        </p:txBody>
      </p:sp>
      <p:pic>
        <p:nvPicPr>
          <p:cNvPr id="9" name="im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0000" y="1900000"/>
            <a:ext cx="3600000" cy="2700000"/>
          </a:xfrm>
          <a:prstGeom prst="rect">
            <a:avLst/>
          </a:prstGeom>
        </p:spPr>
      </p:pic>
      <p:sp>
        <p:nvSpPr>
          <p:cNvPr id="10" name="fbox"/>
          <p:cNvSpPr txBox="1"/>
          <p:nvPr/>
        </p:nvSpPr>
        <p:spPr>
          <a:xfrm>
            <a:off x="4300000" y="4700000"/>
            <a:ext cx="3600000" cy="14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set to ∞; link removed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 alternate route found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admin input required</a:t>
            </a:r>
          </a:p>
        </p:txBody>
      </p:sp>
      <p:sp>
        <p:nvSpPr>
          <p:cNvPr id="11" name="tb"/>
          <p:cNvSpPr txBox="1">
            <a:spLocks noChangeArrowheads="1"/>
          </p:cNvSpPr>
          <p:nvPr/>
        </p:nvSpPr>
        <p:spPr bwMode="auto">
          <a:xfrm>
            <a:off x="8200000" y="1450000"/>
            <a:ext cx="3600000" cy="4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ctr">
              <a:spcBef>
                <a:spcPts val="200"/>
              </a:spcBef>
            </a:pPr>
            <a:r>
              <a:rPr lang="en-US" sz="1600" b="1" dirty="0">
                <a:solidFill>
                  <a:srgbClr val="B7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Failure — Router R4</a:t>
            </a:r>
          </a:p>
        </p:txBody>
      </p:sp>
      <p:pic>
        <p:nvPicPr>
          <p:cNvPr id="12" name="im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000" y="1900000"/>
            <a:ext cx="3600000" cy="2700000"/>
          </a:xfrm>
          <a:prstGeom prst="rect">
            <a:avLst/>
          </a:prstGeom>
        </p:spPr>
      </p:pic>
      <p:sp>
        <p:nvSpPr>
          <p:cNvPr id="13" name="fbox"/>
          <p:cNvSpPr txBox="1"/>
          <p:nvPr/>
        </p:nvSpPr>
        <p:spPr>
          <a:xfrm>
            <a:off x="8200000" y="4700000"/>
            <a:ext cx="3600000" cy="14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R4 edges → ∞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Bypass path computed instantly</a:t>
            </a:r>
          </a:p>
          <a:p>
            <a:pPr algn="l">
              <a:spcBef>
                <a:spcPts val="150"/>
              </a:spcBef>
            </a:pPr>
            <a:r>
              <a:rPr lang="en-US" sz="13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self-healing confirmed</a:t>
            </a:r>
          </a:p>
        </p:txBody>
      </p:sp>
      <p:sp>
        <p:nvSpPr>
          <p:cNvPr id="14" name="fbox"/>
          <p:cNvSpPr txBox="1"/>
          <p:nvPr/>
        </p:nvSpPr>
        <p:spPr>
          <a:xfrm>
            <a:off x="400000" y="6200000"/>
            <a:ext cx="11400000" cy="50000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50"/>
              </a:spcBef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three failure modes handled autonomously with sub-millisecond recovery — no manual intervention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Bar"/>
          <p:cNvSpPr txBox="1">
            <a:spLocks noChangeArrowheads="1"/>
          </p:cNvSpPr>
          <p:nvPr/>
        </p:nvSpPr>
        <p:spPr bwMode="auto">
          <a:xfrm>
            <a:off x="0" y="6486754"/>
            <a:ext cx="12192000" cy="371513"/>
          </a:xfrm>
          <a:prstGeom prst="rect">
            <a:avLst/>
          </a:prstGeom>
          <a:solidFill>
            <a:srgbClr val="E46C0A"/>
          </a:solidFill>
        </p:spPr>
        <p:txBody>
          <a:bodyPr wrap="square" lIns="90000" tIns="46800" rIns="90000" bIns="46800">
            <a:spAutoFit/>
          </a:bodyPr>
          <a:lstStyle/>
          <a:p>
            <a:pPr algn="ctr">
              <a:spcBef>
                <a:spcPts val="1125"/>
              </a:spcBef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Sudeep Sharma, Prakhar Singh 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 No. 230907340 &amp; 230907450, ECE, MIT.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16832" y="6570513"/>
            <a:ext cx="914400" cy="203994"/>
          </a:xfrm>
        </p:spPr>
        <p:txBody>
          <a:bodyPr/>
          <a:lstStyle/>
          <a:p>
            <a:fld id="{D1D7ACCA-8485-4958-B811-C4240EBF000A}" type="datetime5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24-Mar-26</a:t>
            </a:fld>
            <a:endParaRPr lang="en-US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131968" y="6434716"/>
            <a:ext cx="2743200" cy="365125"/>
          </a:xfrm>
        </p:spPr>
        <p:txBody>
          <a:bodyPr/>
          <a:lstStyle/>
          <a:p>
            <a:fld id="{49C05B83-7B02-450B-B7D4-1E54CDF37B95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IN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1" y="791817"/>
            <a:ext cx="12191999" cy="11668"/>
          </a:xfrm>
          <a:prstGeom prst="line">
            <a:avLst/>
          </a:prstGeom>
          <a:noFill/>
          <a:ln w="31680">
            <a:solidFill>
              <a:srgbClr val="E46C0A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201" y="126629"/>
            <a:ext cx="584799" cy="608191"/>
          </a:xfrm>
          <a:prstGeom prst="rect">
            <a:avLst/>
          </a:prstGeom>
        </p:spPr>
      </p:pic>
      <p:sp>
        <p:nvSpPr>
          <p:cNvPr id="22" name="HdrTitle"/>
          <p:cNvSpPr txBox="1"/>
          <p:nvPr/>
        </p:nvSpPr>
        <p:spPr>
          <a:xfrm>
            <a:off x="4178507" y="249488"/>
            <a:ext cx="403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COMMUNICATION NETWORKS LAB</a:t>
            </a:r>
          </a:p>
        </p:txBody>
      </p:sp>
      <p:sp>
        <p:nvSpPr>
          <p:cNvPr id="99" name="tb"/>
          <p:cNvSpPr txBox="1">
            <a:spLocks noChangeArrowheads="1"/>
          </p:cNvSpPr>
          <p:nvPr/>
        </p:nvSpPr>
        <p:spPr bwMode="auto">
          <a:xfrm>
            <a:off x="400000" y="900000"/>
            <a:ext cx="11000000" cy="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lnSpcReduction="10000"/>
          </a:bodyPr>
          <a:lstStyle/>
          <a:p>
            <a:pPr algn="l">
              <a:spcBef>
                <a:spcPts val="200"/>
              </a:spcBef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</a:p>
        </p:txBody>
      </p:sp>
      <p:sp>
        <p:nvSpPr>
          <p:cNvPr id="7" name="tb"/>
          <p:cNvSpPr txBox="1">
            <a:spLocks noChangeArrowheads="1"/>
          </p:cNvSpPr>
          <p:nvPr/>
        </p:nvSpPr>
        <p:spPr bwMode="auto">
          <a:xfrm>
            <a:off x="400000" y="1500000"/>
            <a:ext cx="8200000" cy="3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200"/>
              </a:spcBef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Convergence Time (ms) by Network Size &amp; Failure Type</a:t>
            </a:r>
          </a:p>
        </p:txBody>
      </p:sp>
      <p:sp>
        <p:nvSpPr>
          <p:cNvPr id="98" name="fbox"/>
          <p:cNvSpPr txBox="1"/>
          <p:nvPr/>
        </p:nvSpPr>
        <p:spPr>
          <a:xfrm>
            <a:off x="400000" y="1900000"/>
            <a:ext cx="1800000" cy="45000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Nodes (N)</a:t>
            </a:r>
          </a:p>
        </p:txBody>
      </p:sp>
      <p:sp>
        <p:nvSpPr>
          <p:cNvPr id="8" name="fbox"/>
          <p:cNvSpPr txBox="1"/>
          <p:nvPr/>
        </p:nvSpPr>
        <p:spPr>
          <a:xfrm>
            <a:off x="2300000" y="1900000"/>
            <a:ext cx="2000000" cy="45000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Congestion</a:t>
            </a:r>
          </a:p>
        </p:txBody>
      </p:sp>
      <p:sp>
        <p:nvSpPr>
          <p:cNvPr id="9" name="fbox"/>
          <p:cNvSpPr txBox="1"/>
          <p:nvPr/>
        </p:nvSpPr>
        <p:spPr>
          <a:xfrm>
            <a:off x="4400000" y="1900000"/>
            <a:ext cx="2000000" cy="45000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Failure</a:t>
            </a:r>
          </a:p>
        </p:txBody>
      </p:sp>
      <p:sp>
        <p:nvSpPr>
          <p:cNvPr id="10" name="fbox"/>
          <p:cNvSpPr txBox="1"/>
          <p:nvPr/>
        </p:nvSpPr>
        <p:spPr>
          <a:xfrm>
            <a:off x="6500000" y="1900000"/>
            <a:ext cx="2000000" cy="45000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Failure</a:t>
            </a:r>
          </a:p>
        </p:txBody>
      </p:sp>
      <p:sp>
        <p:nvSpPr>
          <p:cNvPr id="11" name="fbox"/>
          <p:cNvSpPr txBox="1"/>
          <p:nvPr/>
        </p:nvSpPr>
        <p:spPr>
          <a:xfrm>
            <a:off x="400000" y="2350000"/>
            <a:ext cx="1800000" cy="45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2" name="fbox"/>
          <p:cNvSpPr txBox="1"/>
          <p:nvPr/>
        </p:nvSpPr>
        <p:spPr>
          <a:xfrm>
            <a:off x="2300000" y="2350000"/>
            <a:ext cx="2000000" cy="45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0.21 ms</a:t>
            </a:r>
          </a:p>
        </p:txBody>
      </p:sp>
      <p:sp>
        <p:nvSpPr>
          <p:cNvPr id="13" name="fbox"/>
          <p:cNvSpPr txBox="1"/>
          <p:nvPr/>
        </p:nvSpPr>
        <p:spPr>
          <a:xfrm>
            <a:off x="4400000" y="2350000"/>
            <a:ext cx="2000000" cy="45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0.28 ms</a:t>
            </a:r>
          </a:p>
        </p:txBody>
      </p:sp>
      <p:sp>
        <p:nvSpPr>
          <p:cNvPr id="14" name="fbox"/>
          <p:cNvSpPr txBox="1"/>
          <p:nvPr/>
        </p:nvSpPr>
        <p:spPr>
          <a:xfrm>
            <a:off x="6500000" y="2350000"/>
            <a:ext cx="2000000" cy="45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0.35 ms</a:t>
            </a:r>
          </a:p>
        </p:txBody>
      </p:sp>
      <p:sp>
        <p:nvSpPr>
          <p:cNvPr id="15" name="fbox"/>
          <p:cNvSpPr txBox="1"/>
          <p:nvPr/>
        </p:nvSpPr>
        <p:spPr>
          <a:xfrm>
            <a:off x="400000" y="2800000"/>
            <a:ext cx="1800000" cy="45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16" name="fbox"/>
          <p:cNvSpPr txBox="1"/>
          <p:nvPr/>
        </p:nvSpPr>
        <p:spPr>
          <a:xfrm>
            <a:off x="2300000" y="2800000"/>
            <a:ext cx="2000000" cy="45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0.31 ms</a:t>
            </a:r>
          </a:p>
        </p:txBody>
      </p:sp>
      <p:sp>
        <p:nvSpPr>
          <p:cNvPr id="17" name="fbox"/>
          <p:cNvSpPr txBox="1"/>
          <p:nvPr/>
        </p:nvSpPr>
        <p:spPr>
          <a:xfrm>
            <a:off x="4400000" y="2800000"/>
            <a:ext cx="2000000" cy="45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0.38 ms</a:t>
            </a:r>
          </a:p>
        </p:txBody>
      </p:sp>
      <p:sp>
        <p:nvSpPr>
          <p:cNvPr id="18" name="fbox"/>
          <p:cNvSpPr txBox="1"/>
          <p:nvPr/>
        </p:nvSpPr>
        <p:spPr>
          <a:xfrm>
            <a:off x="6500000" y="2800000"/>
            <a:ext cx="2000000" cy="45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0.44 ms</a:t>
            </a:r>
          </a:p>
        </p:txBody>
      </p:sp>
      <p:sp>
        <p:nvSpPr>
          <p:cNvPr id="19" name="fbox"/>
          <p:cNvSpPr txBox="1"/>
          <p:nvPr/>
        </p:nvSpPr>
        <p:spPr>
          <a:xfrm>
            <a:off x="400000" y="3250000"/>
            <a:ext cx="1800000" cy="45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20" name="fbox"/>
          <p:cNvSpPr txBox="1"/>
          <p:nvPr/>
        </p:nvSpPr>
        <p:spPr>
          <a:xfrm>
            <a:off x="2300000" y="3250000"/>
            <a:ext cx="2000000" cy="45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0.40 ms</a:t>
            </a:r>
          </a:p>
        </p:txBody>
      </p:sp>
      <p:sp>
        <p:nvSpPr>
          <p:cNvPr id="21" name="fbox"/>
          <p:cNvSpPr txBox="1"/>
          <p:nvPr/>
        </p:nvSpPr>
        <p:spPr>
          <a:xfrm>
            <a:off x="4400000" y="3250000"/>
            <a:ext cx="2000000" cy="45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0.47 ms</a:t>
            </a:r>
          </a:p>
        </p:txBody>
      </p:sp>
      <p:sp>
        <p:nvSpPr>
          <p:cNvPr id="23" name="fbox"/>
          <p:cNvSpPr txBox="1"/>
          <p:nvPr/>
        </p:nvSpPr>
        <p:spPr>
          <a:xfrm>
            <a:off x="6500000" y="3250000"/>
            <a:ext cx="2000000" cy="45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0.51 ms</a:t>
            </a:r>
          </a:p>
        </p:txBody>
      </p:sp>
      <p:sp>
        <p:nvSpPr>
          <p:cNvPr id="24" name="fbox"/>
          <p:cNvSpPr txBox="1"/>
          <p:nvPr/>
        </p:nvSpPr>
        <p:spPr>
          <a:xfrm>
            <a:off x="400000" y="3700000"/>
            <a:ext cx="1800000" cy="45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</p:txBody>
      </p:sp>
      <p:sp>
        <p:nvSpPr>
          <p:cNvPr id="25" name="fbox"/>
          <p:cNvSpPr txBox="1"/>
          <p:nvPr/>
        </p:nvSpPr>
        <p:spPr>
          <a:xfrm>
            <a:off x="2300000" y="3700000"/>
            <a:ext cx="2000000" cy="45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0.46 ms</a:t>
            </a:r>
          </a:p>
        </p:txBody>
      </p:sp>
      <p:sp>
        <p:nvSpPr>
          <p:cNvPr id="26" name="fbox"/>
          <p:cNvSpPr txBox="1"/>
          <p:nvPr/>
        </p:nvSpPr>
        <p:spPr>
          <a:xfrm>
            <a:off x="4400000" y="3700000"/>
            <a:ext cx="2000000" cy="45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0.50 ms</a:t>
            </a:r>
          </a:p>
        </p:txBody>
      </p:sp>
      <p:sp>
        <p:nvSpPr>
          <p:cNvPr id="27" name="fbox"/>
          <p:cNvSpPr txBox="1"/>
          <p:nvPr/>
        </p:nvSpPr>
        <p:spPr>
          <a:xfrm>
            <a:off x="6500000" y="3700000"/>
            <a:ext cx="2000000" cy="45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0.54 ms ★</a:t>
            </a:r>
          </a:p>
        </p:txBody>
      </p:sp>
      <p:sp>
        <p:nvSpPr>
          <p:cNvPr id="28" name="fbox"/>
          <p:cNvSpPr txBox="1"/>
          <p:nvPr/>
        </p:nvSpPr>
        <p:spPr>
          <a:xfrm>
            <a:off x="8800000" y="1500000"/>
            <a:ext cx="3000000" cy="1400000"/>
          </a:xfrm>
          <a:prstGeom prst="rect">
            <a:avLst/>
          </a:prstGeom>
          <a:solidFill>
            <a:srgbClr val="E46C0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50"/>
              </a:spcBef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0.54 ms</a:t>
            </a:r>
          </a:p>
          <a:p>
            <a:pPr algn="ctr">
              <a:spcBef>
                <a:spcPts val="50"/>
              </a:spcBef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 convergence (25 nodes, node failure)</a:t>
            </a:r>
          </a:p>
        </p:txBody>
      </p:sp>
      <p:sp>
        <p:nvSpPr>
          <p:cNvPr id="29" name="fbox"/>
          <p:cNvSpPr txBox="1"/>
          <p:nvPr/>
        </p:nvSpPr>
        <p:spPr>
          <a:xfrm>
            <a:off x="8800000" y="3100000"/>
            <a:ext cx="3000000" cy="140000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50"/>
              </a:spcBef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1 ms</a:t>
            </a:r>
          </a:p>
          <a:p>
            <a:pPr algn="ctr">
              <a:spcBef>
                <a:spcPts val="50"/>
              </a:spcBef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scenarios — all network sizes</a:t>
            </a:r>
          </a:p>
        </p:txBody>
      </p:sp>
      <p:sp>
        <p:nvSpPr>
          <p:cNvPr id="30" name="tb"/>
          <p:cNvSpPr txBox="1">
            <a:spLocks noChangeArrowheads="1"/>
          </p:cNvSpPr>
          <p:nvPr/>
        </p:nvSpPr>
        <p:spPr bwMode="auto">
          <a:xfrm>
            <a:off x="400000" y="4200000"/>
            <a:ext cx="8200000" cy="35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algn="l">
              <a:spcBef>
                <a:spcPts val="200"/>
              </a:spcBef>
            </a:pPr>
            <a:r>
              <a:rPr lang="en-US" sz="1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Bottleneck Bandwidth on Self-Healed Path (10-Node Network)</a:t>
            </a:r>
          </a:p>
        </p:txBody>
      </p:sp>
      <p:sp>
        <p:nvSpPr>
          <p:cNvPr id="31" name="fbox"/>
          <p:cNvSpPr txBox="1"/>
          <p:nvPr/>
        </p:nvSpPr>
        <p:spPr>
          <a:xfrm>
            <a:off x="400000" y="4650000"/>
            <a:ext cx="2900000" cy="45000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Scenario</a:t>
            </a:r>
          </a:p>
        </p:txBody>
      </p:sp>
      <p:sp>
        <p:nvSpPr>
          <p:cNvPr id="32" name="fbox"/>
          <p:cNvSpPr txBox="1"/>
          <p:nvPr/>
        </p:nvSpPr>
        <p:spPr>
          <a:xfrm>
            <a:off x="3400000" y="4650000"/>
            <a:ext cx="2500000" cy="45000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 BW</a:t>
            </a:r>
          </a:p>
        </p:txBody>
      </p:sp>
      <p:sp>
        <p:nvSpPr>
          <p:cNvPr id="33" name="fbox"/>
          <p:cNvSpPr txBox="1"/>
          <p:nvPr/>
        </p:nvSpPr>
        <p:spPr>
          <a:xfrm>
            <a:off x="6000000" y="4650000"/>
            <a:ext cx="2500000" cy="45000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Healed Path BW</a:t>
            </a:r>
          </a:p>
        </p:txBody>
      </p:sp>
      <p:sp>
        <p:nvSpPr>
          <p:cNvPr id="34" name="fbox"/>
          <p:cNvSpPr txBox="1"/>
          <p:nvPr/>
        </p:nvSpPr>
        <p:spPr>
          <a:xfrm>
            <a:off x="400000" y="5100000"/>
            <a:ext cx="2900000" cy="45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Congestion (R3–R5)</a:t>
            </a:r>
          </a:p>
        </p:txBody>
      </p:sp>
      <p:sp>
        <p:nvSpPr>
          <p:cNvPr id="35" name="fbox"/>
          <p:cNvSpPr txBox="1"/>
          <p:nvPr/>
        </p:nvSpPr>
        <p:spPr>
          <a:xfrm>
            <a:off x="3400000" y="5100000"/>
            <a:ext cx="2500000" cy="45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Mbps</a:t>
            </a:r>
          </a:p>
        </p:txBody>
      </p:sp>
      <p:sp>
        <p:nvSpPr>
          <p:cNvPr id="36" name="fbox"/>
          <p:cNvSpPr txBox="1"/>
          <p:nvPr/>
        </p:nvSpPr>
        <p:spPr>
          <a:xfrm>
            <a:off x="6000000" y="5100000"/>
            <a:ext cx="2500000" cy="45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Mbps</a:t>
            </a:r>
          </a:p>
        </p:txBody>
      </p:sp>
      <p:sp>
        <p:nvSpPr>
          <p:cNvPr id="37" name="fbox"/>
          <p:cNvSpPr txBox="1"/>
          <p:nvPr/>
        </p:nvSpPr>
        <p:spPr>
          <a:xfrm>
            <a:off x="400000" y="5550000"/>
            <a:ext cx="2900000" cy="45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Failure (R2–R6)</a:t>
            </a:r>
          </a:p>
        </p:txBody>
      </p:sp>
      <p:sp>
        <p:nvSpPr>
          <p:cNvPr id="38" name="fbox"/>
          <p:cNvSpPr txBox="1"/>
          <p:nvPr/>
        </p:nvSpPr>
        <p:spPr>
          <a:xfrm>
            <a:off x="3400000" y="5550000"/>
            <a:ext cx="2500000" cy="45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1000 Mbps</a:t>
            </a:r>
          </a:p>
        </p:txBody>
      </p:sp>
      <p:sp>
        <p:nvSpPr>
          <p:cNvPr id="39" name="fbox"/>
          <p:cNvSpPr txBox="1"/>
          <p:nvPr/>
        </p:nvSpPr>
        <p:spPr>
          <a:xfrm>
            <a:off x="6000000" y="5550000"/>
            <a:ext cx="2500000" cy="45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Mbps</a:t>
            </a:r>
          </a:p>
        </p:txBody>
      </p:sp>
      <p:sp>
        <p:nvSpPr>
          <p:cNvPr id="40" name="fbox"/>
          <p:cNvSpPr txBox="1"/>
          <p:nvPr/>
        </p:nvSpPr>
        <p:spPr>
          <a:xfrm>
            <a:off x="400000" y="6000000"/>
            <a:ext cx="2900000" cy="45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Failure (R4)</a:t>
            </a:r>
          </a:p>
        </p:txBody>
      </p:sp>
      <p:sp>
        <p:nvSpPr>
          <p:cNvPr id="41" name="fbox"/>
          <p:cNvSpPr txBox="1"/>
          <p:nvPr/>
        </p:nvSpPr>
        <p:spPr>
          <a:xfrm>
            <a:off x="3400000" y="6000000"/>
            <a:ext cx="2500000" cy="45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Mbps</a:t>
            </a:r>
          </a:p>
        </p:txBody>
      </p:sp>
      <p:sp>
        <p:nvSpPr>
          <p:cNvPr id="42" name="fbox"/>
          <p:cNvSpPr txBox="1"/>
          <p:nvPr/>
        </p:nvSpPr>
        <p:spPr>
          <a:xfrm>
            <a:off x="6000000" y="6000000"/>
            <a:ext cx="2500000" cy="45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4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Mbps</a:t>
            </a:r>
          </a:p>
        </p:txBody>
      </p:sp>
      <p:sp>
        <p:nvSpPr>
          <p:cNvPr id="43" name="fbox"/>
          <p:cNvSpPr txBox="1"/>
          <p:nvPr/>
        </p:nvSpPr>
        <p:spPr>
          <a:xfrm>
            <a:off x="8800000" y="4650000"/>
            <a:ext cx="3000000" cy="1400000"/>
          </a:xfrm>
          <a:prstGeom prst="rect">
            <a:avLst/>
          </a:prstGeom>
          <a:solidFill>
            <a:srgbClr val="B71C1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50"/>
              </a:spcBef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Mbps</a:t>
            </a:r>
          </a:p>
          <a:p>
            <a:pPr algn="ctr">
              <a:spcBef>
                <a:spcPts val="50"/>
              </a:spcBef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 bottleneck BW (node failure)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Bar"/>
          <p:cNvSpPr txBox="1">
            <a:spLocks noChangeArrowheads="1"/>
          </p:cNvSpPr>
          <p:nvPr/>
        </p:nvSpPr>
        <p:spPr bwMode="auto">
          <a:xfrm>
            <a:off x="0" y="6486754"/>
            <a:ext cx="12192000" cy="371513"/>
          </a:xfrm>
          <a:prstGeom prst="rect">
            <a:avLst/>
          </a:prstGeom>
          <a:solidFill>
            <a:srgbClr val="E46C0A"/>
          </a:solidFill>
        </p:spPr>
        <p:txBody>
          <a:bodyPr wrap="square" lIns="90000" tIns="46800" rIns="90000" bIns="46800">
            <a:spAutoFit/>
          </a:bodyPr>
          <a:lstStyle/>
          <a:p>
            <a:pPr algn="ctr">
              <a:spcBef>
                <a:spcPts val="1125"/>
              </a:spcBef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Sudeep Sharma, Prakhar Singh 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 No. 230907340 &amp; 230907450, ECE, MIT.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16832" y="6570513"/>
            <a:ext cx="914400" cy="203994"/>
          </a:xfrm>
        </p:spPr>
        <p:txBody>
          <a:bodyPr/>
          <a:lstStyle/>
          <a:p>
            <a:fld id="{D1D7ACCA-8485-4958-B811-C4240EBF000A}" type="datetime5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24-Mar-26</a:t>
            </a:fld>
            <a:endParaRPr lang="en-US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131968" y="6434716"/>
            <a:ext cx="2743200" cy="365125"/>
          </a:xfrm>
        </p:spPr>
        <p:txBody>
          <a:bodyPr/>
          <a:lstStyle/>
          <a:p>
            <a:fld id="{49C05B83-7B02-450B-B7D4-1E54CDF37B95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IN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1" y="791817"/>
            <a:ext cx="12191999" cy="11668"/>
          </a:xfrm>
          <a:prstGeom prst="line">
            <a:avLst/>
          </a:prstGeom>
          <a:noFill/>
          <a:ln w="31680">
            <a:solidFill>
              <a:srgbClr val="E46C0A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201" y="126629"/>
            <a:ext cx="584799" cy="608191"/>
          </a:xfrm>
          <a:prstGeom prst="rect">
            <a:avLst/>
          </a:prstGeom>
        </p:spPr>
      </p:pic>
      <p:sp>
        <p:nvSpPr>
          <p:cNvPr id="22" name="HdrTitle"/>
          <p:cNvSpPr txBox="1"/>
          <p:nvPr/>
        </p:nvSpPr>
        <p:spPr>
          <a:xfrm>
            <a:off x="4178507" y="249488"/>
            <a:ext cx="403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COMMUNICATION NETWORKS LAB</a:t>
            </a:r>
          </a:p>
        </p:txBody>
      </p:sp>
      <p:sp>
        <p:nvSpPr>
          <p:cNvPr id="99" name="tb"/>
          <p:cNvSpPr txBox="1">
            <a:spLocks noChangeArrowheads="1"/>
          </p:cNvSpPr>
          <p:nvPr/>
        </p:nvSpPr>
        <p:spPr bwMode="auto">
          <a:xfrm>
            <a:off x="400000" y="900000"/>
            <a:ext cx="11000000" cy="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lnSpcReduction="10000"/>
          </a:bodyPr>
          <a:lstStyle/>
          <a:p>
            <a:pPr algn="l">
              <a:spcBef>
                <a:spcPts val="200"/>
              </a:spcBef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Routing vs. Proposed Dynamic System</a:t>
            </a:r>
          </a:p>
        </p:txBody>
      </p:sp>
      <p:sp>
        <p:nvSpPr>
          <p:cNvPr id="98" name="fbox"/>
          <p:cNvSpPr txBox="1"/>
          <p:nvPr/>
        </p:nvSpPr>
        <p:spPr>
          <a:xfrm>
            <a:off x="400000" y="1500000"/>
            <a:ext cx="3700000" cy="50000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</a:t>
            </a:r>
          </a:p>
        </p:txBody>
      </p:sp>
      <p:sp>
        <p:nvSpPr>
          <p:cNvPr id="7" name="fbox"/>
          <p:cNvSpPr txBox="1"/>
          <p:nvPr/>
        </p:nvSpPr>
        <p:spPr>
          <a:xfrm>
            <a:off x="4200000" y="1500000"/>
            <a:ext cx="3600000" cy="50000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Routing</a:t>
            </a:r>
          </a:p>
        </p:txBody>
      </p:sp>
      <p:sp>
        <p:nvSpPr>
          <p:cNvPr id="8" name="fbox"/>
          <p:cNvSpPr txBox="1"/>
          <p:nvPr/>
        </p:nvSpPr>
        <p:spPr>
          <a:xfrm>
            <a:off x="7900000" y="1500000"/>
            <a:ext cx="3900000" cy="50000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Dynamic System</a:t>
            </a:r>
          </a:p>
        </p:txBody>
      </p:sp>
      <p:sp>
        <p:nvSpPr>
          <p:cNvPr id="9" name="fbox"/>
          <p:cNvSpPr txBox="1"/>
          <p:nvPr/>
        </p:nvSpPr>
        <p:spPr>
          <a:xfrm>
            <a:off x="400000" y="2000000"/>
            <a:ext cx="3700000" cy="5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80"/>
              </a:spcBef>
            </a:pPr>
            <a:r>
              <a:rPr lang="en-US" sz="1400" b="1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 Update</a:t>
            </a:r>
          </a:p>
        </p:txBody>
      </p:sp>
      <p:sp>
        <p:nvSpPr>
          <p:cNvPr id="10" name="fbox"/>
          <p:cNvSpPr txBox="1"/>
          <p:nvPr/>
        </p:nvSpPr>
        <p:spPr>
          <a:xfrm>
            <a:off x="4200000" y="2000000"/>
            <a:ext cx="3600000" cy="5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300" dirty="0">
                <a:solidFill>
                  <a:srgbClr val="B7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reconfiguration</a:t>
            </a:r>
          </a:p>
        </p:txBody>
      </p:sp>
      <p:sp>
        <p:nvSpPr>
          <p:cNvPr id="11" name="fbox"/>
          <p:cNvSpPr txBox="1"/>
          <p:nvPr/>
        </p:nvSpPr>
        <p:spPr>
          <a:xfrm>
            <a:off x="7900000" y="2000000"/>
            <a:ext cx="3900000" cy="5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3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(real-time)</a:t>
            </a:r>
          </a:p>
        </p:txBody>
      </p:sp>
      <p:sp>
        <p:nvSpPr>
          <p:cNvPr id="12" name="fbox"/>
          <p:cNvSpPr txBox="1"/>
          <p:nvPr/>
        </p:nvSpPr>
        <p:spPr>
          <a:xfrm>
            <a:off x="400000" y="2500000"/>
            <a:ext cx="3700000" cy="50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80"/>
              </a:spcBef>
            </a:pPr>
            <a:r>
              <a:rPr lang="en-US" sz="1400" b="1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Congestion</a:t>
            </a:r>
          </a:p>
        </p:txBody>
      </p:sp>
      <p:sp>
        <p:nvSpPr>
          <p:cNvPr id="13" name="fbox"/>
          <p:cNvSpPr txBox="1"/>
          <p:nvPr/>
        </p:nvSpPr>
        <p:spPr>
          <a:xfrm>
            <a:off x="4200000" y="2500000"/>
            <a:ext cx="3600000" cy="50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300" dirty="0">
                <a:solidFill>
                  <a:srgbClr val="B7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</a:p>
        </p:txBody>
      </p:sp>
      <p:sp>
        <p:nvSpPr>
          <p:cNvPr id="14" name="fbox"/>
          <p:cNvSpPr txBox="1"/>
          <p:nvPr/>
        </p:nvSpPr>
        <p:spPr>
          <a:xfrm>
            <a:off x="7900000" y="2500000"/>
            <a:ext cx="3900000" cy="50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3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 injection + reroute</a:t>
            </a:r>
          </a:p>
        </p:txBody>
      </p:sp>
      <p:sp>
        <p:nvSpPr>
          <p:cNvPr id="15" name="fbox"/>
          <p:cNvSpPr txBox="1"/>
          <p:nvPr/>
        </p:nvSpPr>
        <p:spPr>
          <a:xfrm>
            <a:off x="400000" y="3000000"/>
            <a:ext cx="3700000" cy="5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80"/>
              </a:spcBef>
            </a:pPr>
            <a:r>
              <a:rPr lang="en-US" sz="1400" b="1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 Failure</a:t>
            </a:r>
          </a:p>
        </p:txBody>
      </p:sp>
      <p:sp>
        <p:nvSpPr>
          <p:cNvPr id="16" name="fbox"/>
          <p:cNvSpPr txBox="1"/>
          <p:nvPr/>
        </p:nvSpPr>
        <p:spPr>
          <a:xfrm>
            <a:off x="4200000" y="3000000"/>
            <a:ext cx="3600000" cy="5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300" dirty="0">
                <a:solidFill>
                  <a:srgbClr val="B7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fix required</a:t>
            </a:r>
          </a:p>
        </p:txBody>
      </p:sp>
      <p:sp>
        <p:nvSpPr>
          <p:cNvPr id="17" name="fbox"/>
          <p:cNvSpPr txBox="1"/>
          <p:nvPr/>
        </p:nvSpPr>
        <p:spPr>
          <a:xfrm>
            <a:off x="7900000" y="3000000"/>
            <a:ext cx="3900000" cy="5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3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(&lt;1 ms)</a:t>
            </a:r>
          </a:p>
        </p:txBody>
      </p:sp>
      <p:sp>
        <p:nvSpPr>
          <p:cNvPr id="18" name="fbox"/>
          <p:cNvSpPr txBox="1"/>
          <p:nvPr/>
        </p:nvSpPr>
        <p:spPr>
          <a:xfrm>
            <a:off x="400000" y="3500000"/>
            <a:ext cx="3700000" cy="50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80"/>
              </a:spcBef>
            </a:pPr>
            <a:r>
              <a:rPr lang="en-US" sz="1400" b="1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Failure</a:t>
            </a:r>
          </a:p>
        </p:txBody>
      </p:sp>
      <p:sp>
        <p:nvSpPr>
          <p:cNvPr id="19" name="fbox"/>
          <p:cNvSpPr txBox="1"/>
          <p:nvPr/>
        </p:nvSpPr>
        <p:spPr>
          <a:xfrm>
            <a:off x="4200000" y="3500000"/>
            <a:ext cx="3600000" cy="50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300" dirty="0">
                <a:solidFill>
                  <a:srgbClr val="B7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outage</a:t>
            </a:r>
          </a:p>
        </p:txBody>
      </p:sp>
      <p:sp>
        <p:nvSpPr>
          <p:cNvPr id="20" name="fbox"/>
          <p:cNvSpPr txBox="1"/>
          <p:nvPr/>
        </p:nvSpPr>
        <p:spPr>
          <a:xfrm>
            <a:off x="7900000" y="3500000"/>
            <a:ext cx="3900000" cy="50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3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Self-healing bypass</a:t>
            </a:r>
          </a:p>
        </p:txBody>
      </p:sp>
      <p:sp>
        <p:nvSpPr>
          <p:cNvPr id="21" name="fbox"/>
          <p:cNvSpPr txBox="1"/>
          <p:nvPr/>
        </p:nvSpPr>
        <p:spPr>
          <a:xfrm>
            <a:off x="400000" y="4000000"/>
            <a:ext cx="3700000" cy="5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80"/>
              </a:spcBef>
            </a:pPr>
            <a:r>
              <a:rPr lang="en-US" sz="1400" b="1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Convergence</a:t>
            </a:r>
          </a:p>
        </p:txBody>
      </p:sp>
      <p:sp>
        <p:nvSpPr>
          <p:cNvPr id="23" name="fbox"/>
          <p:cNvSpPr txBox="1"/>
          <p:nvPr/>
        </p:nvSpPr>
        <p:spPr>
          <a:xfrm>
            <a:off x="4200000" y="4000000"/>
            <a:ext cx="3600000" cy="5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300" dirty="0">
                <a:solidFill>
                  <a:srgbClr val="B7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Minutes (manual)</a:t>
            </a:r>
          </a:p>
        </p:txBody>
      </p:sp>
      <p:sp>
        <p:nvSpPr>
          <p:cNvPr id="24" name="fbox"/>
          <p:cNvSpPr txBox="1"/>
          <p:nvPr/>
        </p:nvSpPr>
        <p:spPr>
          <a:xfrm>
            <a:off x="7900000" y="4000000"/>
            <a:ext cx="3900000" cy="5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3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~0.54 ms average</a:t>
            </a:r>
          </a:p>
        </p:txBody>
      </p:sp>
      <p:sp>
        <p:nvSpPr>
          <p:cNvPr id="25" name="fbox"/>
          <p:cNvSpPr txBox="1"/>
          <p:nvPr/>
        </p:nvSpPr>
        <p:spPr>
          <a:xfrm>
            <a:off x="400000" y="4500000"/>
            <a:ext cx="3700000" cy="50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80"/>
              </a:spcBef>
            </a:pPr>
            <a:r>
              <a:rPr lang="en-US" sz="1400" b="1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</a:t>
            </a:r>
          </a:p>
        </p:txBody>
      </p:sp>
      <p:sp>
        <p:nvSpPr>
          <p:cNvPr id="26" name="fbox"/>
          <p:cNvSpPr txBox="1"/>
          <p:nvPr/>
        </p:nvSpPr>
        <p:spPr>
          <a:xfrm>
            <a:off x="4200000" y="4500000"/>
            <a:ext cx="3600000" cy="50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300" dirty="0">
                <a:solidFill>
                  <a:srgbClr val="B7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Hop count / fixed cost</a:t>
            </a:r>
          </a:p>
        </p:txBody>
      </p:sp>
      <p:sp>
        <p:nvSpPr>
          <p:cNvPr id="27" name="fbox"/>
          <p:cNvSpPr txBox="1"/>
          <p:nvPr/>
        </p:nvSpPr>
        <p:spPr>
          <a:xfrm>
            <a:off x="7900000" y="4500000"/>
            <a:ext cx="3900000" cy="50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3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+ Bottleneck BW</a:t>
            </a:r>
          </a:p>
        </p:txBody>
      </p:sp>
      <p:sp>
        <p:nvSpPr>
          <p:cNvPr id="28" name="fbox"/>
          <p:cNvSpPr txBox="1"/>
          <p:nvPr/>
        </p:nvSpPr>
        <p:spPr>
          <a:xfrm>
            <a:off x="400000" y="5000000"/>
            <a:ext cx="3700000" cy="5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80"/>
              </a:spcBef>
            </a:pPr>
            <a:r>
              <a:rPr lang="en-US" sz="1400" b="1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Redundancy</a:t>
            </a:r>
          </a:p>
        </p:txBody>
      </p:sp>
      <p:sp>
        <p:nvSpPr>
          <p:cNvPr id="29" name="fbox"/>
          <p:cNvSpPr txBox="1"/>
          <p:nvPr/>
        </p:nvSpPr>
        <p:spPr>
          <a:xfrm>
            <a:off x="4200000" y="5000000"/>
            <a:ext cx="3600000" cy="5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300" dirty="0">
                <a:solidFill>
                  <a:srgbClr val="B7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Static, pre-set</a:t>
            </a:r>
          </a:p>
        </p:txBody>
      </p:sp>
      <p:sp>
        <p:nvSpPr>
          <p:cNvPr id="30" name="fbox"/>
          <p:cNvSpPr txBox="1"/>
          <p:nvPr/>
        </p:nvSpPr>
        <p:spPr>
          <a:xfrm>
            <a:off x="7900000" y="5000000"/>
            <a:ext cx="3900000" cy="5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3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Dynamic, on-demand</a:t>
            </a:r>
          </a:p>
        </p:txBody>
      </p:sp>
      <p:sp>
        <p:nvSpPr>
          <p:cNvPr id="31" name="fbox"/>
          <p:cNvSpPr txBox="1"/>
          <p:nvPr/>
        </p:nvSpPr>
        <p:spPr>
          <a:xfrm>
            <a:off x="400000" y="5500000"/>
            <a:ext cx="3700000" cy="50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80"/>
              </a:spcBef>
            </a:pPr>
            <a:r>
              <a:rPr lang="en-US" sz="1400" b="1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</p:txBody>
      </p:sp>
      <p:sp>
        <p:nvSpPr>
          <p:cNvPr id="32" name="fbox"/>
          <p:cNvSpPr txBox="1"/>
          <p:nvPr/>
        </p:nvSpPr>
        <p:spPr>
          <a:xfrm>
            <a:off x="4200000" y="5500000"/>
            <a:ext cx="3600000" cy="50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300" dirty="0">
                <a:solidFill>
                  <a:srgbClr val="B7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</a:p>
        </p:txBody>
      </p:sp>
      <p:sp>
        <p:nvSpPr>
          <p:cNvPr id="33" name="fbox"/>
          <p:cNvSpPr txBox="1"/>
          <p:nvPr/>
        </p:nvSpPr>
        <p:spPr>
          <a:xfrm>
            <a:off x="7900000" y="5500000"/>
            <a:ext cx="3900000" cy="500000"/>
          </a:xfrm>
          <a:prstGeom prst="rect">
            <a:avLst/>
          </a:prstGeom>
          <a:solidFill>
            <a:srgbClr val="FFFFFF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3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O((V+E) log V)</a:t>
            </a:r>
          </a:p>
        </p:txBody>
      </p:sp>
      <p:sp>
        <p:nvSpPr>
          <p:cNvPr id="34" name="fbox"/>
          <p:cNvSpPr txBox="1"/>
          <p:nvPr/>
        </p:nvSpPr>
        <p:spPr>
          <a:xfrm>
            <a:off x="400000" y="6000000"/>
            <a:ext cx="3700000" cy="5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80"/>
              </a:spcBef>
            </a:pPr>
            <a:r>
              <a:rPr lang="en-US" sz="1400" b="1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</a:p>
        </p:txBody>
      </p:sp>
      <p:sp>
        <p:nvSpPr>
          <p:cNvPr id="35" name="fbox"/>
          <p:cNvSpPr txBox="1"/>
          <p:nvPr/>
        </p:nvSpPr>
        <p:spPr>
          <a:xfrm>
            <a:off x="4200000" y="6000000"/>
            <a:ext cx="3600000" cy="5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300" dirty="0">
                <a:solidFill>
                  <a:srgbClr val="B71C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None</a:t>
            </a:r>
          </a:p>
        </p:txBody>
      </p:sp>
      <p:sp>
        <p:nvSpPr>
          <p:cNvPr id="36" name="fbox"/>
          <p:cNvSpPr txBox="1"/>
          <p:nvPr/>
        </p:nvSpPr>
        <p:spPr>
          <a:xfrm>
            <a:off x="7900000" y="6000000"/>
            <a:ext cx="3900000" cy="5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80"/>
              </a:spcBef>
            </a:pPr>
            <a:r>
              <a:rPr lang="en-US" sz="13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color-coded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Bar"/>
          <p:cNvSpPr txBox="1">
            <a:spLocks noChangeArrowheads="1"/>
          </p:cNvSpPr>
          <p:nvPr/>
        </p:nvSpPr>
        <p:spPr bwMode="auto">
          <a:xfrm>
            <a:off x="0" y="6486754"/>
            <a:ext cx="12192000" cy="371513"/>
          </a:xfrm>
          <a:prstGeom prst="rect">
            <a:avLst/>
          </a:prstGeom>
          <a:solidFill>
            <a:srgbClr val="E46C0A"/>
          </a:solidFill>
        </p:spPr>
        <p:txBody>
          <a:bodyPr wrap="square" lIns="90000" tIns="46800" rIns="90000" bIns="46800">
            <a:spAutoFit/>
          </a:bodyPr>
          <a:lstStyle/>
          <a:p>
            <a:pPr algn="ctr">
              <a:spcBef>
                <a:spcPts val="1125"/>
              </a:spcBef>
            </a:pP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Sudeep Sharma, Prakhar Singh 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Reg. No. 230907340 &amp; 230907450, ECE, MIT.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16832" y="6570513"/>
            <a:ext cx="914400" cy="203994"/>
          </a:xfrm>
        </p:spPr>
        <p:txBody>
          <a:bodyPr/>
          <a:lstStyle/>
          <a:p>
            <a:fld id="{D1D7ACCA-8485-4958-B811-C4240EBF000A}" type="datetime5">
              <a:rPr lang="en-US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24-Mar-26</a:t>
            </a:fld>
            <a:endParaRPr lang="en-US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9131968" y="6434716"/>
            <a:ext cx="2743200" cy="365125"/>
          </a:xfrm>
        </p:spPr>
        <p:txBody>
          <a:bodyPr/>
          <a:lstStyle/>
          <a:p>
            <a:fld id="{49C05B83-7B02-450B-B7D4-1E54CDF37B95}" type="slidenum">
              <a:rPr lang="en-IN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IN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 flipV="1">
            <a:off x="1" y="791817"/>
            <a:ext cx="12191999" cy="11668"/>
          </a:xfrm>
          <a:prstGeom prst="line">
            <a:avLst/>
          </a:prstGeom>
          <a:noFill/>
          <a:ln w="31680">
            <a:solidFill>
              <a:srgbClr val="E46C0A"/>
            </a:solidFill>
            <a:miter lim="800000"/>
            <a:headEnd/>
            <a:tailEnd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Logo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7201" y="126629"/>
            <a:ext cx="584799" cy="608191"/>
          </a:xfrm>
          <a:prstGeom prst="rect">
            <a:avLst/>
          </a:prstGeom>
        </p:spPr>
      </p:pic>
      <p:sp>
        <p:nvSpPr>
          <p:cNvPr id="22" name="HdrTitle"/>
          <p:cNvSpPr txBox="1"/>
          <p:nvPr/>
        </p:nvSpPr>
        <p:spPr>
          <a:xfrm>
            <a:off x="4178507" y="249488"/>
            <a:ext cx="4038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COMMUNICATION NETWORKS LAB</a:t>
            </a:r>
          </a:p>
        </p:txBody>
      </p:sp>
      <p:sp>
        <p:nvSpPr>
          <p:cNvPr id="99" name="tb"/>
          <p:cNvSpPr txBox="1">
            <a:spLocks noChangeArrowheads="1"/>
          </p:cNvSpPr>
          <p:nvPr/>
        </p:nvSpPr>
        <p:spPr bwMode="auto">
          <a:xfrm>
            <a:off x="400000" y="900000"/>
            <a:ext cx="11000000" cy="500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 lnSpcReduction="10000"/>
          </a:bodyPr>
          <a:lstStyle/>
          <a:p>
            <a:pPr algn="l">
              <a:spcBef>
                <a:spcPts val="200"/>
              </a:spcBef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8" name="fbox"/>
          <p:cNvSpPr txBox="1"/>
          <p:nvPr/>
        </p:nvSpPr>
        <p:spPr>
          <a:xfrm>
            <a:off x="400000" y="1600000"/>
            <a:ext cx="11400000" cy="600000"/>
          </a:xfrm>
          <a:prstGeom prst="rect">
            <a:avLst/>
          </a:prstGeom>
          <a:solidFill>
            <a:srgbClr val="002060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80"/>
              </a:spcBef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self-healing routing system fully demonstrated on MATLAB platform</a:t>
            </a:r>
          </a:p>
        </p:txBody>
      </p:sp>
      <p:sp>
        <p:nvSpPr>
          <p:cNvPr id="7" name="fbox"/>
          <p:cNvSpPr txBox="1"/>
          <p:nvPr/>
        </p:nvSpPr>
        <p:spPr>
          <a:xfrm>
            <a:off x="400000" y="2300000"/>
            <a:ext cx="11400000" cy="6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80"/>
              </a:spcBef>
            </a:pPr>
            <a:r>
              <a:rPr lang="en-US" sz="15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congestion, link failure, and node failure with fully autonomous recovery</a:t>
            </a:r>
          </a:p>
        </p:txBody>
      </p:sp>
      <p:sp>
        <p:nvSpPr>
          <p:cNvPr id="8" name="fbox"/>
          <p:cNvSpPr txBox="1"/>
          <p:nvPr/>
        </p:nvSpPr>
        <p:spPr>
          <a:xfrm>
            <a:off x="400000" y="3000000"/>
            <a:ext cx="11400000" cy="6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80"/>
              </a:spcBef>
            </a:pPr>
            <a:r>
              <a:rPr lang="en-US" sz="15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Convergence averaging 0.54 ms — outperforms OSPF by over 4 orders of magnitude</a:t>
            </a:r>
          </a:p>
        </p:txBody>
      </p:sp>
      <p:sp>
        <p:nvSpPr>
          <p:cNvPr id="9" name="fbox"/>
          <p:cNvSpPr txBox="1"/>
          <p:nvPr/>
        </p:nvSpPr>
        <p:spPr>
          <a:xfrm>
            <a:off x="400000" y="3700000"/>
            <a:ext cx="11400000" cy="6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80"/>
              </a:spcBef>
            </a:pPr>
            <a:r>
              <a:rPr lang="en-US" sz="15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Dual-metric model (cost + bottleneck BW) provides richer path quality assessment than single-metric approaches</a:t>
            </a:r>
          </a:p>
        </p:txBody>
      </p:sp>
      <p:sp>
        <p:nvSpPr>
          <p:cNvPr id="10" name="fbox"/>
          <p:cNvSpPr txBox="1"/>
          <p:nvPr/>
        </p:nvSpPr>
        <p:spPr>
          <a:xfrm>
            <a:off x="400000" y="4400000"/>
            <a:ext cx="11400000" cy="600000"/>
          </a:xfrm>
          <a:prstGeom prst="rect">
            <a:avLst/>
          </a:prstGeom>
          <a:solidFill>
            <a:srgbClr val="F7F9FC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l">
              <a:spcBef>
                <a:spcPts val="80"/>
              </a:spcBef>
            </a:pPr>
            <a:r>
              <a:rPr lang="en-US" sz="1500" dirty="0">
                <a:solidFill>
                  <a:srgbClr val="1F2D3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Five-phase architecture: rigorous, extensible platform for network resilience research</a:t>
            </a:r>
          </a:p>
        </p:txBody>
      </p:sp>
      <p:sp>
        <p:nvSpPr>
          <p:cNvPr id="11" name="fbox"/>
          <p:cNvSpPr txBox="1"/>
          <p:nvPr/>
        </p:nvSpPr>
        <p:spPr>
          <a:xfrm>
            <a:off x="400000" y="5300000"/>
            <a:ext cx="11400000" cy="800000"/>
          </a:xfrm>
          <a:prstGeom prst="rect">
            <a:avLst/>
          </a:prstGeom>
          <a:solidFill>
            <a:srgbClr val="E46C0A"/>
          </a:solidFill>
        </p:spPr>
        <p:txBody>
          <a:bodyPr wrap="square" lIns="91440" tIns="45720" rIns="91440" bIns="45720" anchor="ctr">
            <a:normAutofit/>
          </a:bodyPr>
          <a:lstStyle/>
          <a:p>
            <a:pPr algn="ctr">
              <a:spcBef>
                <a:spcPts val="60"/>
              </a:spcBef>
            </a:pPr>
            <a:r>
              <a:rPr lang="en-US" sz="1400" i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framework establishes a practical foundation for next-generation traffic-aware,</a:t>
            </a:r>
          </a:p>
          <a:p>
            <a:pPr algn="ctr">
              <a:spcBef>
                <a:spcPts val="60"/>
              </a:spcBef>
            </a:pPr>
            <a:r>
              <a:rPr lang="en-US" sz="1400" i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self-healing network infrastructure — responsive at the millisecond scale where static protocols fail.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N LAB PPT FORMAT" id="{9E8C2734-5217-2541-B476-B7E93B572E0F}" vid="{CDCD29A9-D177-0643-8656-502A1069FC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9bebd42-f1ff-4c3d-9688-067e3460dc1f}" enabled="0" method="" siteId="{29bebd42-f1ff-4c3d-9688-067e3460dc1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2029</Words>
  <Application>Microsoft Macintosh PowerPoint</Application>
  <PresentationFormat>Widescreen</PresentationFormat>
  <Paragraphs>361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Soumya S [MAHE-MIT]</dc:creator>
  <cp:lastModifiedBy>Prakhar singh</cp:lastModifiedBy>
  <cp:revision>4</cp:revision>
  <dcterms:created xsi:type="dcterms:W3CDTF">2026-03-20T09:18:49Z</dcterms:created>
  <dcterms:modified xsi:type="dcterms:W3CDTF">2026-03-24T04:22:50Z</dcterms:modified>
</cp:coreProperties>
</file>